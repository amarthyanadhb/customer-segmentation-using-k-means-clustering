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80" r:id="rId9"/>
    <p:sldId id="279" r:id="rId10"/>
    <p:sldId id="281" r:id="rId11"/>
    <p:sldId id="282" r:id="rId12"/>
    <p:sldId id="283" r:id="rId13"/>
    <p:sldId id="284" r:id="rId14"/>
    <p:sldId id="268" r:id="rId15"/>
    <p:sldId id="269" r:id="rId16"/>
    <p:sldId id="270" r:id="rId17"/>
    <p:sldId id="271" r:id="rId18"/>
    <p:sldId id="272" r:id="rId19"/>
    <p:sldId id="273" r:id="rId20"/>
    <p:sldId id="274" r:id="rId21"/>
    <p:sldId id="276" r:id="rId22"/>
    <p:sldId id="285" r:id="rId23"/>
    <p:sldId id="277"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3AB43F-E231-4F22-80F7-C7E7E5AD9CA8}" v="43" dt="2026-03-13T17:48:00.7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5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4140C-7FA3-42A1-9C48-56B10D0A8CBB}"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AA969D-3E19-4FAF-ACA9-F8942C3E9C28}" type="slidenum">
              <a:rPr lang="en-IN" smtClean="0"/>
              <a:t>‹#›</a:t>
            </a:fld>
            <a:endParaRPr lang="en-IN"/>
          </a:p>
        </p:txBody>
      </p:sp>
    </p:spTree>
    <p:extLst>
      <p:ext uri="{BB962C8B-B14F-4D97-AF65-F5344CB8AC3E}">
        <p14:creationId xmlns:p14="http://schemas.microsoft.com/office/powerpoint/2010/main" val="2731254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Project Name</a:t>
            </a:r>
          </a:p>
        </p:txBody>
      </p:sp>
      <p:sp>
        <p:nvSpPr>
          <p:cNvPr id="4" name="Slide Number Placeholder 3"/>
          <p:cNvSpPr>
            <a:spLocks noGrp="1"/>
          </p:cNvSpPr>
          <p:nvPr>
            <p:ph type="sldNum" sz="quarter" idx="5"/>
          </p:nvPr>
        </p:nvSpPr>
        <p:spPr/>
        <p:txBody>
          <a:bodyPr/>
          <a:lstStyle/>
          <a:p>
            <a:fld id="{A6AA969D-3E19-4FAF-ACA9-F8942C3E9C28}" type="slidenum">
              <a:rPr lang="en-IN" smtClean="0"/>
              <a:t>1</a:t>
            </a:fld>
            <a:endParaRPr lang="en-IN"/>
          </a:p>
        </p:txBody>
      </p:sp>
    </p:spTree>
    <p:extLst>
      <p:ext uri="{BB962C8B-B14F-4D97-AF65-F5344CB8AC3E}">
        <p14:creationId xmlns:p14="http://schemas.microsoft.com/office/powerpoint/2010/main" val="886497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Mentor’s Name &amp; Team Members’ Names</a:t>
            </a: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2</a:t>
            </a:fld>
            <a:endParaRPr lang="en-IN"/>
          </a:p>
        </p:txBody>
      </p:sp>
    </p:spTree>
    <p:extLst>
      <p:ext uri="{BB962C8B-B14F-4D97-AF65-F5344CB8AC3E}">
        <p14:creationId xmlns:p14="http://schemas.microsoft.com/office/powerpoint/2010/main" val="156841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Objective of the Project</a:t>
            </a: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3</a:t>
            </a:fld>
            <a:endParaRPr lang="en-IN"/>
          </a:p>
        </p:txBody>
      </p:sp>
    </p:spTree>
    <p:extLst>
      <p:ext uri="{BB962C8B-B14F-4D97-AF65-F5344CB8AC3E}">
        <p14:creationId xmlns:p14="http://schemas.microsoft.com/office/powerpoint/2010/main" val="892370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Dataset Overview</a:t>
            </a:r>
          </a:p>
        </p:txBody>
      </p:sp>
      <p:sp>
        <p:nvSpPr>
          <p:cNvPr id="4" name="Slide Number Placeholder 3"/>
          <p:cNvSpPr>
            <a:spLocks noGrp="1"/>
          </p:cNvSpPr>
          <p:nvPr>
            <p:ph type="sldNum" sz="quarter" idx="5"/>
          </p:nvPr>
        </p:nvSpPr>
        <p:spPr/>
        <p:txBody>
          <a:bodyPr/>
          <a:lstStyle/>
          <a:p>
            <a:fld id="{A6AA969D-3E19-4FAF-ACA9-F8942C3E9C28}" type="slidenum">
              <a:rPr lang="en-IN" smtClean="0"/>
              <a:t>4</a:t>
            </a:fld>
            <a:endParaRPr lang="en-IN"/>
          </a:p>
        </p:txBody>
      </p:sp>
    </p:spTree>
    <p:extLst>
      <p:ext uri="{BB962C8B-B14F-4D97-AF65-F5344CB8AC3E}">
        <p14:creationId xmlns:p14="http://schemas.microsoft.com/office/powerpoint/2010/main" val="2751873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Dataset Attributes</a:t>
            </a:r>
          </a:p>
        </p:txBody>
      </p:sp>
      <p:sp>
        <p:nvSpPr>
          <p:cNvPr id="4" name="Slide Number Placeholder 3"/>
          <p:cNvSpPr>
            <a:spLocks noGrp="1"/>
          </p:cNvSpPr>
          <p:nvPr>
            <p:ph type="sldNum" sz="quarter" idx="5"/>
          </p:nvPr>
        </p:nvSpPr>
        <p:spPr/>
        <p:txBody>
          <a:bodyPr/>
          <a:lstStyle/>
          <a:p>
            <a:fld id="{A6AA969D-3E19-4FAF-ACA9-F8942C3E9C28}" type="slidenum">
              <a:rPr lang="en-IN" smtClean="0"/>
              <a:t>5</a:t>
            </a:fld>
            <a:endParaRPr lang="en-IN"/>
          </a:p>
        </p:txBody>
      </p:sp>
    </p:spTree>
    <p:extLst>
      <p:ext uri="{BB962C8B-B14F-4D97-AF65-F5344CB8AC3E}">
        <p14:creationId xmlns:p14="http://schemas.microsoft.com/office/powerpoint/2010/main" val="2661627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Exploratory Data Analysis</a:t>
            </a:r>
          </a:p>
        </p:txBody>
      </p:sp>
      <p:sp>
        <p:nvSpPr>
          <p:cNvPr id="4" name="Slide Number Placeholder 3"/>
          <p:cNvSpPr>
            <a:spLocks noGrp="1"/>
          </p:cNvSpPr>
          <p:nvPr>
            <p:ph type="sldNum" sz="quarter" idx="5"/>
          </p:nvPr>
        </p:nvSpPr>
        <p:spPr/>
        <p:txBody>
          <a:bodyPr/>
          <a:lstStyle/>
          <a:p>
            <a:fld id="{A6AA969D-3E19-4FAF-ACA9-F8942C3E9C28}" type="slidenum">
              <a:rPr lang="en-IN" smtClean="0"/>
              <a:t>6</a:t>
            </a:fld>
            <a:endParaRPr lang="en-IN"/>
          </a:p>
        </p:txBody>
      </p:sp>
    </p:spTree>
    <p:extLst>
      <p:ext uri="{BB962C8B-B14F-4D97-AF65-F5344CB8AC3E}">
        <p14:creationId xmlns:p14="http://schemas.microsoft.com/office/powerpoint/2010/main" val="4142284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Marital Status Distribution</a:t>
            </a:r>
          </a:p>
        </p:txBody>
      </p:sp>
      <p:sp>
        <p:nvSpPr>
          <p:cNvPr id="4" name="Slide Number Placeholder 3"/>
          <p:cNvSpPr>
            <a:spLocks noGrp="1"/>
          </p:cNvSpPr>
          <p:nvPr>
            <p:ph type="sldNum" sz="quarter" idx="5"/>
          </p:nvPr>
        </p:nvSpPr>
        <p:spPr/>
        <p:txBody>
          <a:bodyPr/>
          <a:lstStyle/>
          <a:p>
            <a:fld id="{A6AA969D-3E19-4FAF-ACA9-F8942C3E9C28}" type="slidenum">
              <a:rPr lang="en-IN" smtClean="0"/>
              <a:t>7</a:t>
            </a:fld>
            <a:endParaRPr lang="en-IN"/>
          </a:p>
        </p:txBody>
      </p:sp>
    </p:spTree>
    <p:extLst>
      <p:ext uri="{BB962C8B-B14F-4D97-AF65-F5344CB8AC3E}">
        <p14:creationId xmlns:p14="http://schemas.microsoft.com/office/powerpoint/2010/main" val="5096073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in Household</a:t>
            </a: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8</a:t>
            </a:fld>
            <a:endParaRPr lang="en-IN"/>
          </a:p>
        </p:txBody>
      </p:sp>
    </p:spTree>
    <p:extLst>
      <p:ext uri="{BB962C8B-B14F-4D97-AF65-F5344CB8AC3E}">
        <p14:creationId xmlns:p14="http://schemas.microsoft.com/office/powerpoint/2010/main" val="1725814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Recency Analysis</a:t>
            </a:r>
          </a:p>
        </p:txBody>
      </p:sp>
      <p:sp>
        <p:nvSpPr>
          <p:cNvPr id="4" name="Slide Number Placeholder 3"/>
          <p:cNvSpPr>
            <a:spLocks noGrp="1"/>
          </p:cNvSpPr>
          <p:nvPr>
            <p:ph type="sldNum" sz="quarter" idx="5"/>
          </p:nvPr>
        </p:nvSpPr>
        <p:spPr/>
        <p:txBody>
          <a:bodyPr/>
          <a:lstStyle/>
          <a:p>
            <a:fld id="{A6AA969D-3E19-4FAF-ACA9-F8942C3E9C28}" type="slidenum">
              <a:rPr lang="en-IN" smtClean="0"/>
              <a:t>9</a:t>
            </a:fld>
            <a:endParaRPr lang="en-IN"/>
          </a:p>
        </p:txBody>
      </p:sp>
    </p:spTree>
    <p:extLst>
      <p:ext uri="{BB962C8B-B14F-4D97-AF65-F5344CB8AC3E}">
        <p14:creationId xmlns:p14="http://schemas.microsoft.com/office/powerpoint/2010/main" val="1824152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Income Outlier Detection</a:t>
            </a:r>
            <a:br>
              <a:rPr lang="en-IN" dirty="0"/>
            </a:b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10</a:t>
            </a:fld>
            <a:endParaRPr lang="en-IN"/>
          </a:p>
        </p:txBody>
      </p:sp>
    </p:spTree>
    <p:extLst>
      <p:ext uri="{BB962C8B-B14F-4D97-AF65-F5344CB8AC3E}">
        <p14:creationId xmlns:p14="http://schemas.microsoft.com/office/powerpoint/2010/main" val="7857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Income Distribution After Cleaning</a:t>
            </a:r>
          </a:p>
        </p:txBody>
      </p:sp>
      <p:sp>
        <p:nvSpPr>
          <p:cNvPr id="4" name="Slide Number Placeholder 3"/>
          <p:cNvSpPr>
            <a:spLocks noGrp="1"/>
          </p:cNvSpPr>
          <p:nvPr>
            <p:ph type="sldNum" sz="quarter" idx="5"/>
          </p:nvPr>
        </p:nvSpPr>
        <p:spPr/>
        <p:txBody>
          <a:bodyPr/>
          <a:lstStyle/>
          <a:p>
            <a:fld id="{A6AA969D-3E19-4FAF-ACA9-F8942C3E9C28}" type="slidenum">
              <a:rPr lang="en-IN" smtClean="0"/>
              <a:t>11</a:t>
            </a:fld>
            <a:endParaRPr lang="en-IN"/>
          </a:p>
        </p:txBody>
      </p:sp>
    </p:spTree>
    <p:extLst>
      <p:ext uri="{BB962C8B-B14F-4D97-AF65-F5344CB8AC3E}">
        <p14:creationId xmlns:p14="http://schemas.microsoft.com/office/powerpoint/2010/main" val="1446351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Total Spending Analysis</a:t>
            </a:r>
            <a:br>
              <a:rPr lang="en-IN" dirty="0"/>
            </a:b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12</a:t>
            </a:fld>
            <a:endParaRPr lang="en-IN"/>
          </a:p>
        </p:txBody>
      </p:sp>
    </p:spTree>
    <p:extLst>
      <p:ext uri="{BB962C8B-B14F-4D97-AF65-F5344CB8AC3E}">
        <p14:creationId xmlns:p14="http://schemas.microsoft.com/office/powerpoint/2010/main" val="2467828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Total Purchases Analysis</a:t>
            </a:r>
            <a:br>
              <a:rPr lang="en-IN" dirty="0"/>
            </a:b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13</a:t>
            </a:fld>
            <a:endParaRPr lang="en-IN"/>
          </a:p>
        </p:txBody>
      </p:sp>
    </p:spTree>
    <p:extLst>
      <p:ext uri="{BB962C8B-B14F-4D97-AF65-F5344CB8AC3E}">
        <p14:creationId xmlns:p14="http://schemas.microsoft.com/office/powerpoint/2010/main" val="2061469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Key Insights from EDA</a:t>
            </a:r>
          </a:p>
        </p:txBody>
      </p:sp>
      <p:sp>
        <p:nvSpPr>
          <p:cNvPr id="4" name="Slide Number Placeholder 3"/>
          <p:cNvSpPr>
            <a:spLocks noGrp="1"/>
          </p:cNvSpPr>
          <p:nvPr>
            <p:ph type="sldNum" sz="quarter" idx="5"/>
          </p:nvPr>
        </p:nvSpPr>
        <p:spPr/>
        <p:txBody>
          <a:bodyPr/>
          <a:lstStyle/>
          <a:p>
            <a:fld id="{A6AA969D-3E19-4FAF-ACA9-F8942C3E9C28}" type="slidenum">
              <a:rPr lang="en-IN" smtClean="0"/>
              <a:t>14</a:t>
            </a:fld>
            <a:endParaRPr lang="en-IN"/>
          </a:p>
        </p:txBody>
      </p:sp>
    </p:spTree>
    <p:extLst>
      <p:ext uri="{BB962C8B-B14F-4D97-AF65-F5344CB8AC3E}">
        <p14:creationId xmlns:p14="http://schemas.microsoft.com/office/powerpoint/2010/main" val="2980896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Machine Learning Approach</a:t>
            </a:r>
          </a:p>
        </p:txBody>
      </p:sp>
      <p:sp>
        <p:nvSpPr>
          <p:cNvPr id="4" name="Slide Number Placeholder 3"/>
          <p:cNvSpPr>
            <a:spLocks noGrp="1"/>
          </p:cNvSpPr>
          <p:nvPr>
            <p:ph type="sldNum" sz="quarter" idx="5"/>
          </p:nvPr>
        </p:nvSpPr>
        <p:spPr/>
        <p:txBody>
          <a:bodyPr/>
          <a:lstStyle/>
          <a:p>
            <a:fld id="{A6AA969D-3E19-4FAF-ACA9-F8942C3E9C28}" type="slidenum">
              <a:rPr lang="en-IN" smtClean="0"/>
              <a:t>15</a:t>
            </a:fld>
            <a:endParaRPr lang="en-IN"/>
          </a:p>
        </p:txBody>
      </p:sp>
    </p:spTree>
    <p:extLst>
      <p:ext uri="{BB962C8B-B14F-4D97-AF65-F5344CB8AC3E}">
        <p14:creationId xmlns:p14="http://schemas.microsoft.com/office/powerpoint/2010/main" val="726329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K-Means Clustering Algorithm</a:t>
            </a:r>
          </a:p>
        </p:txBody>
      </p:sp>
      <p:sp>
        <p:nvSpPr>
          <p:cNvPr id="4" name="Slide Number Placeholder 3"/>
          <p:cNvSpPr>
            <a:spLocks noGrp="1"/>
          </p:cNvSpPr>
          <p:nvPr>
            <p:ph type="sldNum" sz="quarter" idx="5"/>
          </p:nvPr>
        </p:nvSpPr>
        <p:spPr/>
        <p:txBody>
          <a:bodyPr/>
          <a:lstStyle/>
          <a:p>
            <a:fld id="{A6AA969D-3E19-4FAF-ACA9-F8942C3E9C28}" type="slidenum">
              <a:rPr lang="en-IN" smtClean="0"/>
              <a:t>16</a:t>
            </a:fld>
            <a:endParaRPr lang="en-IN"/>
          </a:p>
        </p:txBody>
      </p:sp>
    </p:spTree>
    <p:extLst>
      <p:ext uri="{BB962C8B-B14F-4D97-AF65-F5344CB8AC3E}">
        <p14:creationId xmlns:p14="http://schemas.microsoft.com/office/powerpoint/2010/main" val="1108290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Features Used for Clustering</a:t>
            </a:r>
          </a:p>
        </p:txBody>
      </p:sp>
      <p:sp>
        <p:nvSpPr>
          <p:cNvPr id="4" name="Slide Number Placeholder 3"/>
          <p:cNvSpPr>
            <a:spLocks noGrp="1"/>
          </p:cNvSpPr>
          <p:nvPr>
            <p:ph type="sldNum" sz="quarter" idx="5"/>
          </p:nvPr>
        </p:nvSpPr>
        <p:spPr/>
        <p:txBody>
          <a:bodyPr/>
          <a:lstStyle/>
          <a:p>
            <a:fld id="{A6AA969D-3E19-4FAF-ACA9-F8942C3E9C28}" type="slidenum">
              <a:rPr lang="en-IN" smtClean="0"/>
              <a:t>17</a:t>
            </a:fld>
            <a:endParaRPr lang="en-IN"/>
          </a:p>
        </p:txBody>
      </p:sp>
    </p:spTree>
    <p:extLst>
      <p:ext uri="{BB962C8B-B14F-4D97-AF65-F5344CB8AC3E}">
        <p14:creationId xmlns:p14="http://schemas.microsoft.com/office/powerpoint/2010/main" val="955191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Cluster Visualization</a:t>
            </a:r>
          </a:p>
        </p:txBody>
      </p:sp>
      <p:sp>
        <p:nvSpPr>
          <p:cNvPr id="4" name="Slide Number Placeholder 3"/>
          <p:cNvSpPr>
            <a:spLocks noGrp="1"/>
          </p:cNvSpPr>
          <p:nvPr>
            <p:ph type="sldNum" sz="quarter" idx="5"/>
          </p:nvPr>
        </p:nvSpPr>
        <p:spPr/>
        <p:txBody>
          <a:bodyPr/>
          <a:lstStyle/>
          <a:p>
            <a:fld id="{A6AA969D-3E19-4FAF-ACA9-F8942C3E9C28}" type="slidenum">
              <a:rPr lang="en-IN" smtClean="0"/>
              <a:t>18</a:t>
            </a:fld>
            <a:endParaRPr lang="en-IN"/>
          </a:p>
        </p:txBody>
      </p:sp>
    </p:spTree>
    <p:extLst>
      <p:ext uri="{BB962C8B-B14F-4D97-AF65-F5344CB8AC3E}">
        <p14:creationId xmlns:p14="http://schemas.microsoft.com/office/powerpoint/2010/main" val="1790801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 Final Model Performance</a:t>
            </a:r>
          </a:p>
        </p:txBody>
      </p:sp>
      <p:sp>
        <p:nvSpPr>
          <p:cNvPr id="4" name="Slide Number Placeholder 3"/>
          <p:cNvSpPr>
            <a:spLocks noGrp="1"/>
          </p:cNvSpPr>
          <p:nvPr>
            <p:ph type="sldNum" sz="quarter" idx="5"/>
          </p:nvPr>
        </p:nvSpPr>
        <p:spPr/>
        <p:txBody>
          <a:bodyPr/>
          <a:lstStyle/>
          <a:p>
            <a:fld id="{A6AA969D-3E19-4FAF-ACA9-F8942C3E9C28}" type="slidenum">
              <a:rPr lang="en-IN" smtClean="0"/>
              <a:t>19</a:t>
            </a:fld>
            <a:endParaRPr lang="en-IN"/>
          </a:p>
        </p:txBody>
      </p:sp>
    </p:spTree>
    <p:extLst>
      <p:ext uri="{BB962C8B-B14F-4D97-AF65-F5344CB8AC3E}">
        <p14:creationId xmlns:p14="http://schemas.microsoft.com/office/powerpoint/2010/main" val="14336096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Model Evaluation</a:t>
            </a:r>
          </a:p>
        </p:txBody>
      </p:sp>
      <p:sp>
        <p:nvSpPr>
          <p:cNvPr id="4" name="Slide Number Placeholder 3"/>
          <p:cNvSpPr>
            <a:spLocks noGrp="1"/>
          </p:cNvSpPr>
          <p:nvPr>
            <p:ph type="sldNum" sz="quarter" idx="5"/>
          </p:nvPr>
        </p:nvSpPr>
        <p:spPr/>
        <p:txBody>
          <a:bodyPr/>
          <a:lstStyle/>
          <a:p>
            <a:fld id="{A6AA969D-3E19-4FAF-ACA9-F8942C3E9C28}" type="slidenum">
              <a:rPr lang="en-IN" smtClean="0"/>
              <a:t>20</a:t>
            </a:fld>
            <a:endParaRPr lang="en-IN"/>
          </a:p>
        </p:txBody>
      </p:sp>
    </p:spTree>
    <p:extLst>
      <p:ext uri="{BB962C8B-B14F-4D97-AF65-F5344CB8AC3E}">
        <p14:creationId xmlns:p14="http://schemas.microsoft.com/office/powerpoint/2010/main" val="1079115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App Page</a:t>
            </a: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21</a:t>
            </a:fld>
            <a:endParaRPr lang="en-IN"/>
          </a:p>
        </p:txBody>
      </p:sp>
    </p:spTree>
    <p:extLst>
      <p:ext uri="{BB962C8B-B14F-4D97-AF65-F5344CB8AC3E}">
        <p14:creationId xmlns:p14="http://schemas.microsoft.com/office/powerpoint/2010/main" val="1514842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Faced During the Project</a:t>
            </a: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23</a:t>
            </a:fld>
            <a:endParaRPr lang="en-IN"/>
          </a:p>
        </p:txBody>
      </p:sp>
    </p:spTree>
    <p:extLst>
      <p:ext uri="{BB962C8B-B14F-4D97-AF65-F5344CB8AC3E}">
        <p14:creationId xmlns:p14="http://schemas.microsoft.com/office/powerpoint/2010/main" val="42231512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Thank You Note</a:t>
            </a:r>
            <a:endParaRPr lang="en-IN" dirty="0"/>
          </a:p>
        </p:txBody>
      </p:sp>
      <p:sp>
        <p:nvSpPr>
          <p:cNvPr id="4" name="Slide Number Placeholder 3"/>
          <p:cNvSpPr>
            <a:spLocks noGrp="1"/>
          </p:cNvSpPr>
          <p:nvPr>
            <p:ph type="sldNum" sz="quarter" idx="5"/>
          </p:nvPr>
        </p:nvSpPr>
        <p:spPr/>
        <p:txBody>
          <a:bodyPr/>
          <a:lstStyle/>
          <a:p>
            <a:fld id="{A6AA969D-3E19-4FAF-ACA9-F8942C3E9C28}" type="slidenum">
              <a:rPr lang="en-IN" smtClean="0"/>
              <a:t>24</a:t>
            </a:fld>
            <a:endParaRPr lang="en-IN"/>
          </a:p>
        </p:txBody>
      </p:sp>
    </p:spTree>
    <p:extLst>
      <p:ext uri="{BB962C8B-B14F-4D97-AF65-F5344CB8AC3E}">
        <p14:creationId xmlns:p14="http://schemas.microsoft.com/office/powerpoint/2010/main" val="18481301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3/14/2026</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3/14/2026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3/14/2026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3/14/2026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3/14/2026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3/14/2026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3/14/2026</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4904-BCD3-1A08-8BF4-B8858A8A7AAA}"/>
              </a:ext>
            </a:extLst>
          </p:cNvPr>
          <p:cNvSpPr>
            <a:spLocks noGrp="1"/>
          </p:cNvSpPr>
          <p:nvPr>
            <p:ph type="ctrTitle"/>
          </p:nvPr>
        </p:nvSpPr>
        <p:spPr>
          <a:xfrm>
            <a:off x="2328421" y="2894029"/>
            <a:ext cx="8210746" cy="1621410"/>
          </a:xfrm>
        </p:spPr>
        <p:txBody>
          <a:bodyPr/>
          <a:lstStyle/>
          <a:p>
            <a:r>
              <a:rPr lang="en-US" dirty="0">
                <a:solidFill>
                  <a:schemeClr val="bg1">
                    <a:lumMod val="95000"/>
                  </a:schemeClr>
                </a:solidFill>
                <a:latin typeface="Calibri bold" panose="020F0702030404030204" pitchFamily="34" charset="0"/>
                <a:ea typeface="Calibri bold" panose="020F0702030404030204" pitchFamily="34" charset="0"/>
                <a:cs typeface="Calibri bold" panose="020F0702030404030204" pitchFamily="34" charset="0"/>
              </a:rPr>
              <a:t>CUSTOMER SEGMENTATION</a:t>
            </a:r>
            <a:br>
              <a:rPr lang="en-US" sz="4800" dirty="0">
                <a:latin typeface="Segoe UI Bold" panose="020B0802040204020203" pitchFamily="34" charset="0"/>
                <a:ea typeface="Calibri bold" panose="020F0702030404030204" pitchFamily="34" charset="0"/>
                <a:cs typeface="Segoe UI Bold" panose="020B0802040204020203" pitchFamily="34" charset="0"/>
              </a:rPr>
            </a:br>
            <a:r>
              <a:rPr lang="en-US" sz="4800" dirty="0">
                <a:latin typeface="Segoe UI Bold" panose="020B0802040204020203" pitchFamily="34" charset="0"/>
                <a:ea typeface="Calibri bold" panose="020F0702030404030204" pitchFamily="34" charset="0"/>
                <a:cs typeface="Segoe UI Bold" panose="020B0802040204020203" pitchFamily="34" charset="0"/>
              </a:rPr>
              <a:t>               </a:t>
            </a:r>
            <a:endParaRPr lang="en-IN" sz="4800"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TextBox 2">
            <a:extLst>
              <a:ext uri="{FF2B5EF4-FFF2-40B4-BE49-F238E27FC236}">
                <a16:creationId xmlns:a16="http://schemas.microsoft.com/office/drawing/2014/main" id="{58318DB8-D2ED-3990-12B4-8E8DA3D7593E}"/>
              </a:ext>
            </a:extLst>
          </p:cNvPr>
          <p:cNvSpPr txBox="1"/>
          <p:nvPr/>
        </p:nvSpPr>
        <p:spPr>
          <a:xfrm>
            <a:off x="5081954" y="4242878"/>
            <a:ext cx="2936631" cy="707886"/>
          </a:xfrm>
          <a:prstGeom prst="rect">
            <a:avLst/>
          </a:prstGeom>
          <a:noFill/>
        </p:spPr>
        <p:txBody>
          <a:bodyPr wrap="square" rtlCol="0">
            <a:spAutoFit/>
          </a:bodyPr>
          <a:lstStyle/>
          <a:p>
            <a:r>
              <a:rPr lang="en-US" sz="4000" dirty="0">
                <a:solidFill>
                  <a:schemeClr val="bg1"/>
                </a:solidFill>
                <a:latin typeface="Calibri bold" panose="020F0702030404030204" pitchFamily="34" charset="0"/>
                <a:ea typeface="Calibri bold" panose="020F0702030404030204" pitchFamily="34" charset="0"/>
                <a:cs typeface="Calibri bold" panose="020F0702030404030204" pitchFamily="34" charset="0"/>
              </a:rPr>
              <a:t>Group – 1</a:t>
            </a:r>
          </a:p>
        </p:txBody>
      </p:sp>
    </p:spTree>
    <p:extLst>
      <p:ext uri="{BB962C8B-B14F-4D97-AF65-F5344CB8AC3E}">
        <p14:creationId xmlns:p14="http://schemas.microsoft.com/office/powerpoint/2010/main" val="616558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9561-3423-5830-6EC9-328837613E87}"/>
              </a:ext>
            </a:extLst>
          </p:cNvPr>
          <p:cNvSpPr>
            <a:spLocks noGrp="1"/>
          </p:cNvSpPr>
          <p:nvPr>
            <p:ph type="title"/>
          </p:nvPr>
        </p:nvSpPr>
        <p:spPr/>
        <p:txBody>
          <a:bodyPr/>
          <a:lstStyle/>
          <a:p>
            <a:r>
              <a:rPr lang="en-US" dirty="0">
                <a:latin typeface="Calibri bold" panose="020F0702030404030204" pitchFamily="34" charset="0"/>
                <a:ea typeface="Calibri bold" panose="020F0702030404030204" pitchFamily="34" charset="0"/>
                <a:cs typeface="Calibri bold" panose="020F0702030404030204" pitchFamily="34" charset="0"/>
              </a:rPr>
              <a:t>PROJECT TEAM</a:t>
            </a: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6F43BAB2-CF7D-4CED-0C0C-DE04FF93ECF4}"/>
              </a:ext>
            </a:extLst>
          </p:cNvPr>
          <p:cNvSpPr>
            <a:spLocks noGrp="1"/>
          </p:cNvSpPr>
          <p:nvPr>
            <p:ph idx="1"/>
          </p:nvPr>
        </p:nvSpPr>
        <p:spPr>
          <a:xfrm>
            <a:off x="1154954" y="2338755"/>
            <a:ext cx="10119503" cy="4146886"/>
          </a:xfrm>
        </p:spPr>
        <p:txBody>
          <a:bodyPr>
            <a:normAutofit/>
          </a:bodyPr>
          <a:lstStyle/>
          <a:p>
            <a:r>
              <a:rPr lang="en-US" sz="2400" b="1" dirty="0">
                <a:latin typeface="Calibri bold" panose="020F0702030404030204" pitchFamily="34" charset="0"/>
                <a:ea typeface="Calibri bold" panose="020F0702030404030204" pitchFamily="34" charset="0"/>
                <a:cs typeface="Calibri bold" panose="020F0702030404030204" pitchFamily="34" charset="0"/>
              </a:rPr>
              <a:t>Mentor Name :  </a:t>
            </a:r>
            <a:r>
              <a:rPr lang="en-US" sz="2400" dirty="0">
                <a:latin typeface="Calibri" panose="020F0502020204030204" pitchFamily="34" charset="0"/>
                <a:ea typeface="Calibri" panose="020F0502020204030204" pitchFamily="34" charset="0"/>
                <a:cs typeface="Calibri" panose="020F0502020204030204" pitchFamily="34" charset="0"/>
              </a:rPr>
              <a:t>Sadiya Ansari </a:t>
            </a:r>
          </a:p>
          <a:p>
            <a:r>
              <a:rPr lang="en-US" sz="2400" b="1" dirty="0">
                <a:latin typeface="Calibri bold" panose="020F0702030404030204" pitchFamily="34" charset="0"/>
                <a:ea typeface="Calibri bold" panose="020F0702030404030204" pitchFamily="34" charset="0"/>
                <a:cs typeface="Calibri bold" panose="020F0702030404030204" pitchFamily="34" charset="0"/>
              </a:rPr>
              <a:t>Team Members </a:t>
            </a:r>
          </a:p>
          <a:p>
            <a:pPr marL="0" indent="0">
              <a:buNone/>
            </a:pPr>
            <a:r>
              <a:rPr lang="en-US" sz="2400" b="1" dirty="0"/>
              <a:t>     </a:t>
            </a:r>
            <a:r>
              <a:rPr lang="en-IN" sz="2000" dirty="0">
                <a:latin typeface="Calibri" panose="020F0502020204030204" pitchFamily="34" charset="0"/>
                <a:ea typeface="Calibri" panose="020F0502020204030204" pitchFamily="34" charset="0"/>
                <a:cs typeface="Calibri" panose="020F0502020204030204" pitchFamily="34" charset="0"/>
              </a:rPr>
              <a:t>NELLORI PHANIRAJ</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       KATARI DHANUSH</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       VADDE RISHI CHARAN TEJA</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       SHAIK HAFEEZ</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       Satya Sai Umesh Chandra </a:t>
            </a:r>
            <a:r>
              <a:rPr lang="en-IN" sz="2000" dirty="0" err="1">
                <a:latin typeface="Calibri" panose="020F0502020204030204" pitchFamily="34" charset="0"/>
                <a:ea typeface="Calibri" panose="020F0502020204030204" pitchFamily="34" charset="0"/>
                <a:cs typeface="Calibri" panose="020F0502020204030204" pitchFamily="34" charset="0"/>
              </a:rPr>
              <a:t>Nidumukkala</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       A. Manasa Sagar</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      AMARTHYA NADH B</a:t>
            </a:r>
          </a:p>
          <a:p>
            <a:endParaRPr lang="en-IN" sz="2400" dirty="0"/>
          </a:p>
        </p:txBody>
      </p:sp>
    </p:spTree>
    <p:extLst>
      <p:ext uri="{BB962C8B-B14F-4D97-AF65-F5344CB8AC3E}">
        <p14:creationId xmlns:p14="http://schemas.microsoft.com/office/powerpoint/2010/main" val="3974605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13D6D-F8F5-F76A-0B77-9734414985DB}"/>
              </a:ext>
            </a:extLst>
          </p:cNvPr>
          <p:cNvSpPr>
            <a:spLocks noGrp="1"/>
          </p:cNvSpPr>
          <p:nvPr>
            <p:ph type="title"/>
          </p:nvPr>
        </p:nvSpPr>
        <p:spPr/>
        <p:txBody>
          <a:bodyPr/>
          <a:lstStyle/>
          <a:p>
            <a:r>
              <a:rPr lang="en-US" dirty="0">
                <a:latin typeface="Calibri bold" panose="020F0702030404030204" pitchFamily="34" charset="0"/>
                <a:ea typeface="Calibri bold" panose="020F0702030404030204" pitchFamily="34" charset="0"/>
                <a:cs typeface="Calibri bold" panose="020F0702030404030204" pitchFamily="34" charset="0"/>
              </a:rPr>
              <a:t>OBJECTIVE </a:t>
            </a: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DF5E85D0-4DFE-4E34-5D3C-5646D940E535}"/>
              </a:ext>
            </a:extLst>
          </p:cNvPr>
          <p:cNvSpPr>
            <a:spLocks noGrp="1"/>
          </p:cNvSpPr>
          <p:nvPr>
            <p:ph idx="1"/>
          </p:nvPr>
        </p:nvSpPr>
        <p:spPr>
          <a:xfrm>
            <a:off x="442452" y="2865748"/>
            <a:ext cx="11371006" cy="3800523"/>
          </a:xfrm>
        </p:spPr>
        <p:txBody>
          <a:bodyPr>
            <a:no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The main objective of this project is to analyze customer data and understand their purchasing behavior.</a:t>
            </a:r>
          </a:p>
          <a:p>
            <a:pPr algn="just"/>
            <a:r>
              <a:rPr lang="en-US" dirty="0">
                <a:latin typeface="Calibri" panose="020F0502020204030204" pitchFamily="34" charset="0"/>
                <a:ea typeface="Calibri" panose="020F0502020204030204" pitchFamily="34" charset="0"/>
                <a:cs typeface="Calibri" panose="020F0502020204030204" pitchFamily="34" charset="0"/>
              </a:rPr>
              <a:t>The project focuses on studying customer demographic information, income levels, and spending patterns.</a:t>
            </a:r>
          </a:p>
          <a:p>
            <a:pPr algn="just"/>
            <a:r>
              <a:rPr lang="en-US" dirty="0">
                <a:latin typeface="Calibri" panose="020F0502020204030204" pitchFamily="34" charset="0"/>
                <a:ea typeface="Calibri" panose="020F0502020204030204" pitchFamily="34" charset="0"/>
                <a:cs typeface="Calibri" panose="020F0502020204030204" pitchFamily="34" charset="0"/>
              </a:rPr>
              <a:t>It aims to identify similarities between customers and group them into different segments based on their characteristics.</a:t>
            </a:r>
          </a:p>
          <a:p>
            <a:pPr algn="just"/>
            <a:r>
              <a:rPr lang="en-US" dirty="0">
                <a:latin typeface="Calibri" panose="020F0502020204030204" pitchFamily="34" charset="0"/>
                <a:ea typeface="Calibri" panose="020F0502020204030204" pitchFamily="34" charset="0"/>
                <a:cs typeface="Calibri" panose="020F0502020204030204" pitchFamily="34" charset="0"/>
              </a:rPr>
              <a:t>Machine learning techniques are used to perform customer segmentation and discover meaningful patterns in the data.</a:t>
            </a:r>
          </a:p>
          <a:p>
            <a:pPr algn="just"/>
            <a:r>
              <a:rPr lang="en-US" dirty="0">
                <a:latin typeface="Calibri" panose="020F0502020204030204" pitchFamily="34" charset="0"/>
                <a:ea typeface="Calibri" panose="020F0502020204030204" pitchFamily="34" charset="0"/>
                <a:cs typeface="Calibri" panose="020F0502020204030204" pitchFamily="34" charset="0"/>
              </a:rPr>
              <a:t>These insights help businesses understand their customers better and create more effective marketing strategies.</a:t>
            </a:r>
          </a:p>
          <a:p>
            <a:pPr marL="0" indent="0" algn="just">
              <a:buNone/>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7870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04474-DA44-F41B-307A-AA89B1D522F6}"/>
              </a:ext>
            </a:extLst>
          </p:cNvPr>
          <p:cNvSpPr>
            <a:spLocks noGrp="1"/>
          </p:cNvSpPr>
          <p:nvPr>
            <p:ph type="title"/>
          </p:nvPr>
        </p:nvSpPr>
        <p:spPr/>
        <p:txBody>
          <a:bodyPr/>
          <a:lstStyle/>
          <a:p>
            <a:r>
              <a:rPr lang="en-US" dirty="0">
                <a:latin typeface="Calibri bold" panose="020F0702030404030204" pitchFamily="34" charset="0"/>
                <a:ea typeface="Calibri bold" panose="020F0702030404030204" pitchFamily="34" charset="0"/>
                <a:cs typeface="Calibri bold" panose="020F0702030404030204" pitchFamily="34" charset="0"/>
              </a:rPr>
              <a:t>DATASET DETAILS</a:t>
            </a: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37170211-9EF5-0A7E-F587-E5C46E597FCE}"/>
              </a:ext>
            </a:extLst>
          </p:cNvPr>
          <p:cNvSpPr>
            <a:spLocks noGrp="1"/>
          </p:cNvSpPr>
          <p:nvPr>
            <p:ph idx="1"/>
          </p:nvPr>
        </p:nvSpPr>
        <p:spPr>
          <a:xfrm>
            <a:off x="527902" y="2462981"/>
            <a:ext cx="11189616" cy="4218037"/>
          </a:xfrm>
        </p:spPr>
        <p:txBody>
          <a:bodyPr>
            <a:normAutofit/>
          </a:bodyPr>
          <a:lstStyle/>
          <a:p>
            <a:pPr algn="just"/>
            <a:r>
              <a:rPr lang="en-US" sz="1900" dirty="0">
                <a:latin typeface="Calibri" panose="020F0502020204030204" pitchFamily="34" charset="0"/>
                <a:ea typeface="Calibri" panose="020F0502020204030204" pitchFamily="34" charset="0"/>
                <a:cs typeface="Calibri" panose="020F0502020204030204" pitchFamily="34" charset="0"/>
              </a:rPr>
              <a:t>The dataset contains information about customers and their interaction with the company’s products and marketing campaigns.</a:t>
            </a:r>
          </a:p>
          <a:p>
            <a:pPr algn="just"/>
            <a:r>
              <a:rPr lang="en-US" sz="1900" dirty="0">
                <a:latin typeface="Calibri" panose="020F0502020204030204" pitchFamily="34" charset="0"/>
                <a:ea typeface="Calibri" panose="020F0502020204030204" pitchFamily="34" charset="0"/>
                <a:cs typeface="Calibri" panose="020F0502020204030204" pitchFamily="34" charset="0"/>
              </a:rPr>
              <a:t> It includes </a:t>
            </a:r>
            <a:r>
              <a:rPr lang="en-US" sz="1900" b="1" dirty="0">
                <a:latin typeface="Calibri" panose="020F0502020204030204" pitchFamily="34" charset="0"/>
                <a:ea typeface="Calibri" panose="020F0502020204030204" pitchFamily="34" charset="0"/>
                <a:cs typeface="Calibri" panose="020F0502020204030204" pitchFamily="34" charset="0"/>
              </a:rPr>
              <a:t>demographic details</a:t>
            </a:r>
            <a:r>
              <a:rPr lang="en-US" sz="1900" dirty="0">
                <a:latin typeface="Calibri" panose="020F0502020204030204" pitchFamily="34" charset="0"/>
                <a:ea typeface="Calibri" panose="020F0502020204030204" pitchFamily="34" charset="0"/>
                <a:cs typeface="Calibri" panose="020F0502020204030204" pitchFamily="34" charset="0"/>
              </a:rPr>
              <a:t> such as year of birth, education level, marital status, and annual income.</a:t>
            </a:r>
          </a:p>
          <a:p>
            <a:pPr algn="just"/>
            <a:r>
              <a:rPr lang="en-US" sz="1900" dirty="0">
                <a:latin typeface="Calibri" panose="020F0502020204030204" pitchFamily="34" charset="0"/>
                <a:ea typeface="Calibri" panose="020F0502020204030204" pitchFamily="34" charset="0"/>
                <a:cs typeface="Calibri" panose="020F0502020204030204" pitchFamily="34" charset="0"/>
              </a:rPr>
              <a:t> The dataset also contains </a:t>
            </a:r>
            <a:r>
              <a:rPr lang="en-US" sz="1900" b="1" dirty="0">
                <a:latin typeface="Calibri" panose="020F0502020204030204" pitchFamily="34" charset="0"/>
                <a:ea typeface="Calibri" panose="020F0502020204030204" pitchFamily="34" charset="0"/>
                <a:cs typeface="Calibri" panose="020F0502020204030204" pitchFamily="34" charset="0"/>
              </a:rPr>
              <a:t>household information</a:t>
            </a:r>
            <a:r>
              <a:rPr lang="en-US" sz="1900" dirty="0">
                <a:latin typeface="Calibri" panose="020F0502020204030204" pitchFamily="34" charset="0"/>
                <a:ea typeface="Calibri" panose="020F0502020204030204" pitchFamily="34" charset="0"/>
                <a:cs typeface="Calibri" panose="020F0502020204030204" pitchFamily="34" charset="0"/>
              </a:rPr>
              <a:t>, including the number of children and teenagers in a customer’s home.</a:t>
            </a:r>
          </a:p>
          <a:p>
            <a:pPr algn="just"/>
            <a:r>
              <a:rPr lang="en-US" sz="1900" dirty="0">
                <a:latin typeface="Calibri" panose="020F0502020204030204" pitchFamily="34" charset="0"/>
                <a:ea typeface="Calibri" panose="020F0502020204030204" pitchFamily="34" charset="0"/>
                <a:cs typeface="Calibri" panose="020F0502020204030204" pitchFamily="34" charset="0"/>
              </a:rPr>
              <a:t> It records </a:t>
            </a:r>
            <a:r>
              <a:rPr lang="en-US" sz="1900" b="1" dirty="0">
                <a:latin typeface="Calibri" panose="020F0502020204030204" pitchFamily="34" charset="0"/>
                <a:ea typeface="Calibri" panose="020F0502020204030204" pitchFamily="34" charset="0"/>
                <a:cs typeface="Calibri" panose="020F0502020204030204" pitchFamily="34" charset="0"/>
              </a:rPr>
              <a:t>customer purchasing behavior</a:t>
            </a:r>
            <a:r>
              <a:rPr lang="en-US" sz="1900" dirty="0">
                <a:latin typeface="Calibri" panose="020F0502020204030204" pitchFamily="34" charset="0"/>
                <a:ea typeface="Calibri" panose="020F0502020204030204" pitchFamily="34" charset="0"/>
                <a:cs typeface="Calibri" panose="020F0502020204030204" pitchFamily="34" charset="0"/>
              </a:rPr>
              <a:t> and the amount spent on different product categories like wine, fruits, meat, fish, sweets, and gold products.</a:t>
            </a:r>
          </a:p>
          <a:p>
            <a:pPr algn="just"/>
            <a:r>
              <a:rPr lang="en-US" sz="1900" dirty="0">
                <a:latin typeface="Calibri" panose="020F0502020204030204" pitchFamily="34" charset="0"/>
                <a:ea typeface="Calibri" panose="020F0502020204030204" pitchFamily="34" charset="0"/>
                <a:cs typeface="Calibri" panose="020F0502020204030204" pitchFamily="34" charset="0"/>
              </a:rPr>
              <a:t>The dataset also shows </a:t>
            </a:r>
            <a:r>
              <a:rPr lang="en-US" sz="1900" b="1" dirty="0">
                <a:latin typeface="Calibri" panose="020F0502020204030204" pitchFamily="34" charset="0"/>
                <a:ea typeface="Calibri" panose="020F0502020204030204" pitchFamily="34" charset="0"/>
                <a:cs typeface="Calibri" panose="020F0502020204030204" pitchFamily="34" charset="0"/>
              </a:rPr>
              <a:t>customer responses to marketing campaigns</a:t>
            </a:r>
            <a:r>
              <a:rPr lang="en-US" sz="1900" dirty="0">
                <a:latin typeface="Calibri" panose="020F0502020204030204" pitchFamily="34" charset="0"/>
                <a:ea typeface="Calibri" panose="020F0502020204030204" pitchFamily="34" charset="0"/>
                <a:cs typeface="Calibri" panose="020F0502020204030204" pitchFamily="34" charset="0"/>
              </a:rPr>
              <a:t> and whether they accepted previous promotional offers.</a:t>
            </a:r>
          </a:p>
          <a:p>
            <a:pPr algn="just"/>
            <a:r>
              <a:rPr lang="en-US" sz="1900" dirty="0">
                <a:latin typeface="Calibri" panose="020F0502020204030204" pitchFamily="34" charset="0"/>
                <a:ea typeface="Calibri" panose="020F0502020204030204" pitchFamily="34" charset="0"/>
                <a:cs typeface="Calibri" panose="020F0502020204030204" pitchFamily="34" charset="0"/>
              </a:rPr>
              <a:t>It includes </a:t>
            </a:r>
            <a:r>
              <a:rPr lang="en-US" sz="1900" b="1" dirty="0">
                <a:latin typeface="Calibri" panose="020F0502020204030204" pitchFamily="34" charset="0"/>
                <a:ea typeface="Calibri" panose="020F0502020204030204" pitchFamily="34" charset="0"/>
                <a:cs typeface="Calibri" panose="020F0502020204030204" pitchFamily="34" charset="0"/>
              </a:rPr>
              <a:t>different purchase channels</a:t>
            </a:r>
            <a:r>
              <a:rPr lang="en-US" sz="1900" dirty="0">
                <a:latin typeface="Calibri" panose="020F0502020204030204" pitchFamily="34" charset="0"/>
                <a:ea typeface="Calibri" panose="020F0502020204030204" pitchFamily="34" charset="0"/>
                <a:cs typeface="Calibri" panose="020F0502020204030204" pitchFamily="34" charset="0"/>
              </a:rPr>
              <a:t>, such as purchases made through the website, catalog, or physical stores.</a:t>
            </a:r>
          </a:p>
          <a:p>
            <a:endParaRPr lang="en-IN" dirty="0"/>
          </a:p>
        </p:txBody>
      </p:sp>
    </p:spTree>
    <p:extLst>
      <p:ext uri="{BB962C8B-B14F-4D97-AF65-F5344CB8AC3E}">
        <p14:creationId xmlns:p14="http://schemas.microsoft.com/office/powerpoint/2010/main" val="26207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EA696-206A-32A9-94BF-9044ADD681E4}"/>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Important Dataset Features</a:t>
            </a:r>
          </a:p>
        </p:txBody>
      </p:sp>
      <p:sp>
        <p:nvSpPr>
          <p:cNvPr id="3" name="Content Placeholder 2">
            <a:extLst>
              <a:ext uri="{FF2B5EF4-FFF2-40B4-BE49-F238E27FC236}">
                <a16:creationId xmlns:a16="http://schemas.microsoft.com/office/drawing/2014/main" id="{51D58568-943D-BF29-F547-CA30C543F36C}"/>
              </a:ext>
            </a:extLst>
          </p:cNvPr>
          <p:cNvSpPr>
            <a:spLocks noGrp="1"/>
          </p:cNvSpPr>
          <p:nvPr>
            <p:ph idx="1"/>
          </p:nvPr>
        </p:nvSpPr>
        <p:spPr>
          <a:xfrm>
            <a:off x="575035" y="2595716"/>
            <a:ext cx="11019934" cy="4114800"/>
          </a:xfrm>
        </p:spPr>
        <p:txBody>
          <a:bodyPr>
            <a:normAutofit fontScale="25000" lnSpcReduction="20000"/>
          </a:bodyPr>
          <a:lstStyle/>
          <a:p>
            <a:r>
              <a:rPr lang="en-US" sz="7200" dirty="0">
                <a:latin typeface="Calibri "/>
              </a:rPr>
              <a:t>The dataset contains several types of information about customers, including:</a:t>
            </a:r>
          </a:p>
          <a:p>
            <a:r>
              <a:rPr lang="en-US" sz="7200" dirty="0">
                <a:latin typeface="Calibri "/>
              </a:rPr>
              <a:t>Customer Information</a:t>
            </a:r>
            <a:br>
              <a:rPr lang="en-US" sz="7200" dirty="0">
                <a:latin typeface="Calibri "/>
              </a:rPr>
            </a:br>
            <a:r>
              <a:rPr lang="en-US" sz="7200" dirty="0">
                <a:latin typeface="Calibri "/>
              </a:rPr>
              <a:t>• Year of birth</a:t>
            </a:r>
            <a:br>
              <a:rPr lang="en-US" sz="7200" dirty="0">
                <a:latin typeface="Calibri "/>
              </a:rPr>
            </a:br>
            <a:r>
              <a:rPr lang="en-US" sz="7200" dirty="0">
                <a:latin typeface="Calibri "/>
              </a:rPr>
              <a:t>• Education level</a:t>
            </a:r>
            <a:br>
              <a:rPr lang="en-US" sz="7200" dirty="0">
                <a:latin typeface="Calibri "/>
              </a:rPr>
            </a:br>
            <a:r>
              <a:rPr lang="en-US" sz="7200" dirty="0">
                <a:latin typeface="Calibri "/>
              </a:rPr>
              <a:t>• Marital status</a:t>
            </a:r>
            <a:br>
              <a:rPr lang="en-US" sz="7200" dirty="0">
                <a:latin typeface="Calibri "/>
              </a:rPr>
            </a:br>
            <a:r>
              <a:rPr lang="en-US" sz="7200" dirty="0">
                <a:latin typeface="Calibri "/>
              </a:rPr>
              <a:t>• Annual income</a:t>
            </a:r>
          </a:p>
          <a:p>
            <a:r>
              <a:rPr lang="en-US" sz="7200" dirty="0">
                <a:latin typeface="Calibri "/>
              </a:rPr>
              <a:t>Household Information</a:t>
            </a:r>
            <a:br>
              <a:rPr lang="en-US" sz="7200" dirty="0">
                <a:latin typeface="Calibri "/>
              </a:rPr>
            </a:br>
            <a:r>
              <a:rPr lang="en-US" sz="7200" dirty="0">
                <a:latin typeface="Calibri "/>
              </a:rPr>
              <a:t>• Number of children at home</a:t>
            </a:r>
            <a:br>
              <a:rPr lang="en-US" sz="7200" dirty="0">
                <a:latin typeface="Calibri "/>
              </a:rPr>
            </a:br>
            <a:r>
              <a:rPr lang="en-US" sz="7200" dirty="0">
                <a:latin typeface="Calibri "/>
              </a:rPr>
              <a:t>• Number of teenagers at home</a:t>
            </a:r>
          </a:p>
          <a:p>
            <a:r>
              <a:rPr lang="en-US" sz="7200" dirty="0">
                <a:latin typeface="Calibri "/>
              </a:rPr>
              <a:t>Customer Activity</a:t>
            </a:r>
            <a:br>
              <a:rPr lang="en-US" sz="7200" dirty="0">
                <a:latin typeface="Calibri "/>
              </a:rPr>
            </a:br>
            <a:r>
              <a:rPr lang="en-US" sz="7200" dirty="0">
                <a:latin typeface="Calibri "/>
              </a:rPr>
              <a:t>• Number of days since the last purchase</a:t>
            </a:r>
            <a:br>
              <a:rPr lang="en-US" sz="7200" dirty="0">
                <a:latin typeface="Calibri "/>
              </a:rPr>
            </a:br>
            <a:r>
              <a:rPr lang="en-US" sz="7200" dirty="0">
                <a:latin typeface="Calibri "/>
              </a:rPr>
              <a:t>• Whether the customer has complained before</a:t>
            </a:r>
          </a:p>
          <a:p>
            <a:r>
              <a:rPr lang="en-US" sz="7200" dirty="0">
                <a:latin typeface="Calibri "/>
              </a:rPr>
              <a:t>These features help us understand customer lifestyle and behavior.</a:t>
            </a:r>
          </a:p>
          <a:p>
            <a:endParaRPr lang="en-IN" dirty="0"/>
          </a:p>
        </p:txBody>
      </p:sp>
    </p:spTree>
    <p:extLst>
      <p:ext uri="{BB962C8B-B14F-4D97-AF65-F5344CB8AC3E}">
        <p14:creationId xmlns:p14="http://schemas.microsoft.com/office/powerpoint/2010/main" val="1276048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34702-25C0-40E2-E8D9-4C392E9B64CD}"/>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Exploratory Data Analysis (EDA)</a:t>
            </a:r>
          </a:p>
        </p:txBody>
      </p:sp>
      <p:sp>
        <p:nvSpPr>
          <p:cNvPr id="3" name="Content Placeholder 2">
            <a:extLst>
              <a:ext uri="{FF2B5EF4-FFF2-40B4-BE49-F238E27FC236}">
                <a16:creationId xmlns:a16="http://schemas.microsoft.com/office/drawing/2014/main" id="{108690E0-AC2C-F678-377F-C1D146A8754D}"/>
              </a:ext>
            </a:extLst>
          </p:cNvPr>
          <p:cNvSpPr>
            <a:spLocks noGrp="1"/>
          </p:cNvSpPr>
          <p:nvPr>
            <p:ph idx="1"/>
          </p:nvPr>
        </p:nvSpPr>
        <p:spPr>
          <a:xfrm>
            <a:off x="546755" y="2809188"/>
            <a:ext cx="11076493" cy="3680102"/>
          </a:xfrm>
        </p:spPr>
        <p:txBody>
          <a:bodyPr>
            <a:norm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Exploratory Data Analysis is used to understand the dataset and identify patterns, trends, and relationships between variables.</a:t>
            </a:r>
          </a:p>
          <a:p>
            <a:pPr algn="just"/>
            <a:r>
              <a:rPr lang="en-US" sz="2000" dirty="0">
                <a:latin typeface="Calibri" panose="020F0502020204030204" pitchFamily="34" charset="0"/>
                <a:ea typeface="Calibri" panose="020F0502020204030204" pitchFamily="34" charset="0"/>
                <a:cs typeface="Calibri" panose="020F0502020204030204" pitchFamily="34" charset="0"/>
              </a:rPr>
              <a:t>It helps in summarizing the main characteristics of the data using visualizations and statistical methods.</a:t>
            </a:r>
          </a:p>
          <a:p>
            <a:pPr algn="just"/>
            <a:r>
              <a:rPr lang="en-US" sz="2000" dirty="0">
                <a:latin typeface="Calibri" panose="020F0502020204030204" pitchFamily="34" charset="0"/>
                <a:ea typeface="Calibri" panose="020F0502020204030204" pitchFamily="34" charset="0"/>
                <a:cs typeface="Calibri" panose="020F0502020204030204" pitchFamily="34" charset="0"/>
              </a:rPr>
              <a:t>Through EDA, we can detect outliers, understand feature distributions, and prepare the data for machine learning models</a:t>
            </a:r>
          </a:p>
          <a:p>
            <a:pPr algn="just"/>
            <a:r>
              <a:rPr lang="en-US" sz="2000" dirty="0">
                <a:latin typeface="Calibri" panose="020F0502020204030204" pitchFamily="34" charset="0"/>
                <a:ea typeface="Calibri" panose="020F0502020204030204" pitchFamily="34" charset="0"/>
                <a:cs typeface="Calibri" panose="020F0502020204030204" pitchFamily="34" charset="0"/>
              </a:rPr>
              <a:t>Studied customer purchasing behavior across different product categories.</a:t>
            </a:r>
          </a:p>
          <a:p>
            <a:pPr algn="just"/>
            <a:r>
              <a:rPr lang="en-US" sz="2000" dirty="0">
                <a:latin typeface="Calibri" panose="020F0502020204030204" pitchFamily="34" charset="0"/>
                <a:ea typeface="Calibri" panose="020F0502020204030204" pitchFamily="34" charset="0"/>
                <a:cs typeface="Calibri" panose="020F0502020204030204" pitchFamily="34" charset="0"/>
              </a:rPr>
              <a:t>Examined the overall structure of the dataset including the number of records and features.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389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6FD9-F192-4BE6-A9BD-F55A899D9614}"/>
              </a:ext>
            </a:extLst>
          </p:cNvPr>
          <p:cNvSpPr>
            <a:spLocks noGrp="1"/>
          </p:cNvSpPr>
          <p:nvPr>
            <p:ph type="title"/>
          </p:nvPr>
        </p:nvSpPr>
        <p:spPr>
          <a:xfrm>
            <a:off x="1154953" y="1140642"/>
            <a:ext cx="8761413" cy="539989"/>
          </a:xfrm>
        </p:spPr>
        <p:txBody>
          <a:bodyPr/>
          <a:lstStyle/>
          <a:p>
            <a:r>
              <a:rPr lang="en-IN" b="1" dirty="0">
                <a:latin typeface="Calibri bold" panose="020F0702030404030204" pitchFamily="34" charset="0"/>
                <a:ea typeface="Calibri bold" panose="020F0702030404030204" pitchFamily="34" charset="0"/>
                <a:cs typeface="Calibri bold" panose="020F0702030404030204" pitchFamily="34" charset="0"/>
              </a:rPr>
              <a:t>Marital Status Distribution</a:t>
            </a:r>
            <a:br>
              <a:rPr lang="en-IN" b="1" dirty="0">
                <a:latin typeface="Calibri bold" panose="020F0702030404030204" pitchFamily="34" charset="0"/>
                <a:ea typeface="Calibri bold" panose="020F0702030404030204" pitchFamily="34" charset="0"/>
                <a:cs typeface="Calibri bold" panose="020F0702030404030204" pitchFamily="34" charset="0"/>
              </a:rPr>
            </a:b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A345040A-C739-1E1F-03AA-ABC9E3C45268}"/>
              </a:ext>
            </a:extLst>
          </p:cNvPr>
          <p:cNvSpPr>
            <a:spLocks noGrp="1"/>
          </p:cNvSpPr>
          <p:nvPr>
            <p:ph idx="1"/>
          </p:nvPr>
        </p:nvSpPr>
        <p:spPr>
          <a:xfrm>
            <a:off x="6096000" y="2394408"/>
            <a:ext cx="5564957" cy="3976894"/>
          </a:xfrm>
        </p:spPr>
        <p:txBody>
          <a:bodyPr>
            <a:noAutofit/>
          </a:bodyPr>
          <a:lstStyle/>
          <a:p>
            <a:pPr algn="just"/>
            <a:r>
              <a:rPr lang="en-US" sz="1400" dirty="0">
                <a:latin typeface="Calibri" panose="020F0502020204030204" pitchFamily="34" charset="0"/>
                <a:ea typeface="Calibri" panose="020F0502020204030204" pitchFamily="34" charset="0"/>
                <a:cs typeface="Calibri" panose="020F0502020204030204" pitchFamily="34" charset="0"/>
              </a:rPr>
              <a:t>The chart shows that our customer base is an even mix of people with partners (marked in green) and those without (marked in blue). When we look at how these two groups are spread out, it is clear that marital status is not a dividing line for our business. Whether a customer is single or in a relationship, they appear at every income level and every spending level in almost the same way.</a:t>
            </a:r>
          </a:p>
          <a:p>
            <a:pPr algn="just"/>
            <a:r>
              <a:rPr lang="en-US" sz="1400" dirty="0">
                <a:latin typeface="Calibri" panose="020F0502020204030204" pitchFamily="34" charset="0"/>
                <a:ea typeface="Calibri" panose="020F0502020204030204" pitchFamily="34" charset="0"/>
                <a:cs typeface="Calibri" panose="020F0502020204030204" pitchFamily="34" charset="0"/>
              </a:rPr>
              <a:t>The most important takeaway is that having a partner does not change a customer’s spending habits. If you look at the "cloud" of dots, the green and blue colors are completely blended together. This tells us that a person's bank account (Income) is a much better predictor of their value to us than their relationship status. Both groups follow the exact same rule: as their income increases, their total spending increases.</a:t>
            </a:r>
          </a:p>
          <a:p>
            <a:pPr algn="just"/>
            <a:r>
              <a:rPr lang="en-US" sz="1400" dirty="0">
                <a:latin typeface="Calibri" panose="020F0502020204030204" pitchFamily="34" charset="0"/>
                <a:ea typeface="Calibri" panose="020F0502020204030204" pitchFamily="34" charset="0"/>
                <a:cs typeface="Calibri" panose="020F0502020204030204" pitchFamily="34" charset="0"/>
              </a:rPr>
              <a:t>For our marketing strategy, this means we don't need to create separate advertisements for singles versus couples. Since their behavior is nearly identical, we can focus our budget on reaching high-income earners in general. By targeting the $60,000 to $100,000 income bracket, we will naturally reach our biggest spenders regardless of their home life.</a:t>
            </a:r>
          </a:p>
          <a:p>
            <a:pPr algn="just"/>
            <a:endParaRPr lang="en-IN" sz="14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D040DE4-6A1C-8AE8-799D-A2A9E06AEF77}"/>
              </a:ext>
            </a:extLst>
          </p:cNvPr>
          <p:cNvPicPr>
            <a:picLocks noChangeAspect="1"/>
          </p:cNvPicPr>
          <p:nvPr/>
        </p:nvPicPr>
        <p:blipFill>
          <a:blip r:embed="rId3"/>
          <a:stretch>
            <a:fillRect/>
          </a:stretch>
        </p:blipFill>
        <p:spPr>
          <a:xfrm>
            <a:off x="531043" y="2261215"/>
            <a:ext cx="5564957" cy="4596785"/>
          </a:xfrm>
          <a:prstGeom prst="rect">
            <a:avLst/>
          </a:prstGeom>
        </p:spPr>
      </p:pic>
    </p:spTree>
    <p:extLst>
      <p:ext uri="{BB962C8B-B14F-4D97-AF65-F5344CB8AC3E}">
        <p14:creationId xmlns:p14="http://schemas.microsoft.com/office/powerpoint/2010/main" val="738008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C47C-D9CA-8844-4DD5-484F6A2C5EC3}"/>
              </a:ext>
            </a:extLst>
          </p:cNvPr>
          <p:cNvSpPr>
            <a:spLocks noGrp="1"/>
          </p:cNvSpPr>
          <p:nvPr>
            <p:ph type="title"/>
          </p:nvPr>
        </p:nvSpPr>
        <p:spPr/>
        <p:txBody>
          <a:bodyPr/>
          <a:lstStyle/>
          <a:p>
            <a:r>
              <a:rPr lang="en-IN" b="1" dirty="0">
                <a:latin typeface="Calibri bold" panose="020F0702030404030204" pitchFamily="34" charset="0"/>
                <a:ea typeface="Calibri bold" panose="020F0702030404030204" pitchFamily="34" charset="0"/>
                <a:cs typeface="Calibri bold" panose="020F0702030404030204" pitchFamily="34" charset="0"/>
              </a:rPr>
              <a:t>Children in Household</a:t>
            </a:r>
            <a:br>
              <a:rPr lang="en-IN" b="1" dirty="0">
                <a:latin typeface="Calibri bold" panose="020F0702030404030204" pitchFamily="34" charset="0"/>
                <a:ea typeface="Calibri bold" panose="020F0702030404030204" pitchFamily="34" charset="0"/>
                <a:cs typeface="Calibri bold" panose="020F0702030404030204" pitchFamily="34" charset="0"/>
              </a:rPr>
            </a:b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D69202C8-6A93-BF61-0438-25E35A4B063F}"/>
              </a:ext>
            </a:extLst>
          </p:cNvPr>
          <p:cNvSpPr>
            <a:spLocks noGrp="1"/>
          </p:cNvSpPr>
          <p:nvPr>
            <p:ph idx="1"/>
          </p:nvPr>
        </p:nvSpPr>
        <p:spPr>
          <a:xfrm>
            <a:off x="5571241" y="2582944"/>
            <a:ext cx="6146277" cy="3301388"/>
          </a:xfrm>
        </p:spPr>
        <p:txBody>
          <a:bodyPr>
            <a:noAutofit/>
          </a:bodyPr>
          <a:lstStyle/>
          <a:p>
            <a:pPr algn="just"/>
            <a:r>
              <a:rPr lang="en-US" sz="1400" dirty="0">
                <a:latin typeface="Calibri" panose="020F0502020204030204" pitchFamily="34" charset="0"/>
                <a:ea typeface="Calibri" panose="020F0502020204030204" pitchFamily="34" charset="0"/>
                <a:cs typeface="Calibri" panose="020F0502020204030204" pitchFamily="34" charset="0"/>
              </a:rPr>
              <a:t>This chart shows how the number of children in a household affects how much a customer spends. Unlike marital status, which didn't change much, the number of children (from 0 to 3) has a very clear impact on spending habits. Each group is color-coded: dark purple for zero children, blue for one, green for two, and yellow for three.</a:t>
            </a:r>
          </a:p>
          <a:p>
            <a:pPr algn="just"/>
            <a:r>
              <a:rPr lang="en-US" sz="1400" dirty="0">
                <a:latin typeface="Calibri" panose="020F0502020204030204" pitchFamily="34" charset="0"/>
                <a:ea typeface="Calibri" panose="020F0502020204030204" pitchFamily="34" charset="0"/>
                <a:cs typeface="Calibri" panose="020F0502020204030204" pitchFamily="34" charset="0"/>
              </a:rPr>
              <a:t>The most striking discovery is that customers with </a:t>
            </a:r>
            <a:r>
              <a:rPr lang="en-US" sz="1400" b="1" dirty="0">
                <a:latin typeface="Calibri" panose="020F0502020204030204" pitchFamily="34" charset="0"/>
                <a:ea typeface="Calibri" panose="020F0502020204030204" pitchFamily="34" charset="0"/>
                <a:cs typeface="Calibri" panose="020F0502020204030204" pitchFamily="34" charset="0"/>
              </a:rPr>
              <a:t>zero children</a:t>
            </a:r>
            <a:r>
              <a:rPr lang="en-US" sz="1400" dirty="0">
                <a:latin typeface="Calibri" panose="020F0502020204030204" pitchFamily="34" charset="0"/>
                <a:ea typeface="Calibri" panose="020F0502020204030204" pitchFamily="34" charset="0"/>
                <a:cs typeface="Calibri" panose="020F0502020204030204" pitchFamily="34" charset="0"/>
              </a:rPr>
              <a:t> (dark purple) are our biggest spenders. Even when comparing people with the exact same income, those without children consistently sit much higher on the chart. As the number of children increases, the dots move further down the vertical axis. This suggests that as family size grows, customers likely shift their budget toward other necessities, leaving less "disposable income" for our specific products.</a:t>
            </a:r>
          </a:p>
          <a:p>
            <a:pPr algn="just"/>
            <a:r>
              <a:rPr lang="en-US" sz="1400" dirty="0">
                <a:latin typeface="Calibri" panose="020F0502020204030204" pitchFamily="34" charset="0"/>
                <a:ea typeface="Calibri" panose="020F0502020204030204" pitchFamily="34" charset="0"/>
                <a:cs typeface="Calibri" panose="020F0502020204030204" pitchFamily="34" charset="0"/>
              </a:rPr>
              <a:t>For a business strategy, this means our "premium" or high-end marketing should be heavily focused on child-free households, as they have the highest spending power regardless of their salary. For families with two or three children, a "value" or "savings-based" approach would likely be more effective, as these customers appear to be much more budget-conscious even when they have a high income.</a:t>
            </a:r>
          </a:p>
          <a:p>
            <a:pPr algn="just"/>
            <a:endParaRPr lang="en-IN" sz="14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C22B4206-8908-4C26-FB41-13D033129BA4}"/>
              </a:ext>
            </a:extLst>
          </p:cNvPr>
          <p:cNvPicPr>
            <a:picLocks noChangeAspect="1"/>
          </p:cNvPicPr>
          <p:nvPr/>
        </p:nvPicPr>
        <p:blipFill>
          <a:blip r:embed="rId3"/>
          <a:stretch>
            <a:fillRect/>
          </a:stretch>
        </p:blipFill>
        <p:spPr>
          <a:xfrm>
            <a:off x="792651" y="2315713"/>
            <a:ext cx="4893837" cy="4452732"/>
          </a:xfrm>
          <a:prstGeom prst="rect">
            <a:avLst/>
          </a:prstGeom>
        </p:spPr>
      </p:pic>
    </p:spTree>
    <p:extLst>
      <p:ext uri="{BB962C8B-B14F-4D97-AF65-F5344CB8AC3E}">
        <p14:creationId xmlns:p14="http://schemas.microsoft.com/office/powerpoint/2010/main" val="534535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1E259-7ECF-CD3A-D2BE-B02CFF51A57A}"/>
              </a:ext>
            </a:extLst>
          </p:cNvPr>
          <p:cNvSpPr>
            <a:spLocks noGrp="1"/>
          </p:cNvSpPr>
          <p:nvPr>
            <p:ph type="title"/>
          </p:nvPr>
        </p:nvSpPr>
        <p:spPr/>
        <p:txBody>
          <a:bodyPr/>
          <a:lstStyle/>
          <a:p>
            <a:r>
              <a:rPr lang="en-IN" b="1" dirty="0">
                <a:latin typeface="Calibri bold" panose="020F0702030404030204" pitchFamily="34" charset="0"/>
                <a:ea typeface="Calibri bold" panose="020F0702030404030204" pitchFamily="34" charset="0"/>
                <a:cs typeface="Calibri bold" panose="020F0702030404030204" pitchFamily="34" charset="0"/>
              </a:rPr>
              <a:t>Recency Analysis</a:t>
            </a:r>
            <a:br>
              <a:rPr lang="en-IN" b="1" dirty="0">
                <a:latin typeface="Calibri bold" panose="020F0702030404030204" pitchFamily="34" charset="0"/>
                <a:ea typeface="Calibri bold" panose="020F0702030404030204" pitchFamily="34" charset="0"/>
                <a:cs typeface="Calibri bold" panose="020F0702030404030204" pitchFamily="34" charset="0"/>
              </a:rPr>
            </a:b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85122385-65EE-68D8-9B79-8213448B9871}"/>
              </a:ext>
            </a:extLst>
          </p:cNvPr>
          <p:cNvSpPr>
            <a:spLocks noGrp="1"/>
          </p:cNvSpPr>
          <p:nvPr>
            <p:ph idx="1"/>
          </p:nvPr>
        </p:nvSpPr>
        <p:spPr>
          <a:xfrm>
            <a:off x="575034" y="2724346"/>
            <a:ext cx="5520965" cy="3864988"/>
          </a:xfrm>
        </p:spPr>
        <p:txBody>
          <a:bodyPr>
            <a:noAutofit/>
          </a:bodyPr>
          <a:lstStyle/>
          <a:p>
            <a:pPr algn="just"/>
            <a:r>
              <a:rPr lang="en-US" sz="1400" b="1" dirty="0">
                <a:latin typeface="Calibri" panose="020F0502020204030204" pitchFamily="34" charset="0"/>
                <a:ea typeface="Calibri" panose="020F0502020204030204" pitchFamily="34" charset="0"/>
                <a:cs typeface="Calibri" panose="020F0502020204030204" pitchFamily="34" charset="0"/>
              </a:rPr>
              <a:t>Understanding Recency:</a:t>
            </a:r>
            <a:r>
              <a:rPr lang="en-US" sz="1400" dirty="0">
                <a:latin typeface="Calibri" panose="020F0502020204030204" pitchFamily="34" charset="0"/>
                <a:ea typeface="Calibri" panose="020F0502020204030204" pitchFamily="34" charset="0"/>
                <a:cs typeface="Calibri" panose="020F0502020204030204" pitchFamily="34" charset="0"/>
              </a:rPr>
              <a:t> "Recency" measures how many days have passed since a customer's last purchase. The colors range from </a:t>
            </a:r>
            <a:r>
              <a:rPr lang="en-US" sz="1400" b="1" dirty="0">
                <a:latin typeface="Calibri" panose="020F0502020204030204" pitchFamily="34" charset="0"/>
                <a:ea typeface="Calibri" panose="020F0502020204030204" pitchFamily="34" charset="0"/>
                <a:cs typeface="Calibri" panose="020F0502020204030204" pitchFamily="34" charset="0"/>
              </a:rPr>
              <a:t>Dark Purple (0 days/Recent)</a:t>
            </a:r>
            <a:r>
              <a:rPr lang="en-US" sz="1400" dirty="0">
                <a:latin typeface="Calibri" panose="020F0502020204030204" pitchFamily="34" charset="0"/>
                <a:ea typeface="Calibri" panose="020F0502020204030204" pitchFamily="34" charset="0"/>
                <a:cs typeface="Calibri" panose="020F0502020204030204" pitchFamily="34" charset="0"/>
              </a:rPr>
              <a:t> to </a:t>
            </a:r>
            <a:r>
              <a:rPr lang="en-US" sz="1400" b="1" dirty="0">
                <a:latin typeface="Calibri" panose="020F0502020204030204" pitchFamily="34" charset="0"/>
                <a:ea typeface="Calibri" panose="020F0502020204030204" pitchFamily="34" charset="0"/>
                <a:cs typeface="Calibri" panose="020F0502020204030204" pitchFamily="34" charset="0"/>
              </a:rPr>
              <a:t>Bright Green (80+ days/Long ago)</a:t>
            </a:r>
            <a:r>
              <a:rPr lang="en-US" sz="1400" dirty="0">
                <a:latin typeface="Calibri" panose="020F0502020204030204" pitchFamily="34" charset="0"/>
                <a:ea typeface="Calibri" panose="020F0502020204030204" pitchFamily="34" charset="0"/>
                <a:cs typeface="Calibri" panose="020F0502020204030204" pitchFamily="34" charset="0"/>
              </a:rPr>
              <a:t>.</a:t>
            </a:r>
          </a:p>
          <a:p>
            <a:pPr algn="just"/>
            <a:r>
              <a:rPr lang="en-US" sz="1400" b="1" dirty="0">
                <a:latin typeface="Calibri" panose="020F0502020204030204" pitchFamily="34" charset="0"/>
                <a:ea typeface="Calibri" panose="020F0502020204030204" pitchFamily="34" charset="0"/>
                <a:cs typeface="Calibri" panose="020F0502020204030204" pitchFamily="34" charset="0"/>
              </a:rPr>
              <a:t>Mixed Distribution:</a:t>
            </a:r>
            <a:r>
              <a:rPr lang="en-US" sz="1400" dirty="0">
                <a:latin typeface="Calibri" panose="020F0502020204030204" pitchFamily="34" charset="0"/>
                <a:ea typeface="Calibri" panose="020F0502020204030204" pitchFamily="34" charset="0"/>
                <a:cs typeface="Calibri" panose="020F0502020204030204" pitchFamily="34" charset="0"/>
              </a:rPr>
              <a:t> The colors are completely blended throughout the chart. This shows that "high-value" customers (those who spend over $2,000) aren't just new shoppers—many are long-time customers who haven't visited in a while.</a:t>
            </a:r>
          </a:p>
          <a:p>
            <a:pPr algn="just"/>
            <a:r>
              <a:rPr lang="en-US" sz="1400" b="1" dirty="0">
                <a:latin typeface="Calibri" panose="020F0502020204030204" pitchFamily="34" charset="0"/>
                <a:ea typeface="Calibri" panose="020F0502020204030204" pitchFamily="34" charset="0"/>
                <a:cs typeface="Calibri" panose="020F0502020204030204" pitchFamily="34" charset="0"/>
              </a:rPr>
              <a:t>Recency Does Not Predict Spend:</a:t>
            </a:r>
            <a:r>
              <a:rPr lang="en-US" sz="1400" dirty="0">
                <a:latin typeface="Calibri" panose="020F0502020204030204" pitchFamily="34" charset="0"/>
                <a:ea typeface="Calibri" panose="020F0502020204030204" pitchFamily="34" charset="0"/>
                <a:cs typeface="Calibri" panose="020F0502020204030204" pitchFamily="34" charset="0"/>
              </a:rPr>
              <a:t> Unlike the "Children" chart, there is no layering here. A customer who shopped 80 days ago is just as likely to be a big spender as someone who shopped yesterday.</a:t>
            </a:r>
          </a:p>
          <a:p>
            <a:pPr algn="just"/>
            <a:r>
              <a:rPr lang="en-US" sz="1400" b="1" dirty="0">
                <a:latin typeface="Calibri" panose="020F0502020204030204" pitchFamily="34" charset="0"/>
                <a:ea typeface="Calibri" panose="020F0502020204030204" pitchFamily="34" charset="0"/>
                <a:cs typeface="Calibri" panose="020F0502020204030204" pitchFamily="34" charset="0"/>
              </a:rPr>
              <a:t>Income is the Constant:</a:t>
            </a:r>
            <a:r>
              <a:rPr lang="en-US" sz="1400" dirty="0">
                <a:latin typeface="Calibri" panose="020F0502020204030204" pitchFamily="34" charset="0"/>
                <a:ea typeface="Calibri" panose="020F0502020204030204" pitchFamily="34" charset="0"/>
                <a:cs typeface="Calibri" panose="020F0502020204030204" pitchFamily="34" charset="0"/>
              </a:rPr>
              <a:t> The upward trend remains the same regardless of the color. Income continues to be the most reliable way to predict how much a customer will spend in total</a:t>
            </a:r>
            <a:r>
              <a:rPr lang="en-US" sz="1200" dirty="0">
                <a:latin typeface="Calibri" panose="020F0502020204030204" pitchFamily="34" charset="0"/>
                <a:ea typeface="Calibri" panose="020F0502020204030204" pitchFamily="34" charset="0"/>
                <a:cs typeface="Calibri" panose="020F0502020204030204" pitchFamily="34" charset="0"/>
              </a:rPr>
              <a:t>.</a:t>
            </a:r>
          </a:p>
        </p:txBody>
      </p:sp>
      <p:pic>
        <p:nvPicPr>
          <p:cNvPr id="7" name="Picture 6">
            <a:extLst>
              <a:ext uri="{FF2B5EF4-FFF2-40B4-BE49-F238E27FC236}">
                <a16:creationId xmlns:a16="http://schemas.microsoft.com/office/drawing/2014/main" id="{556E710D-537A-5E87-BB48-5E94F18D1DC3}"/>
              </a:ext>
            </a:extLst>
          </p:cNvPr>
          <p:cNvPicPr>
            <a:picLocks noChangeAspect="1"/>
          </p:cNvPicPr>
          <p:nvPr/>
        </p:nvPicPr>
        <p:blipFill>
          <a:blip r:embed="rId3"/>
          <a:stretch>
            <a:fillRect/>
          </a:stretch>
        </p:blipFill>
        <p:spPr>
          <a:xfrm>
            <a:off x="6353666" y="2499805"/>
            <a:ext cx="5520965" cy="3985836"/>
          </a:xfrm>
          <a:prstGeom prst="rect">
            <a:avLst/>
          </a:prstGeom>
        </p:spPr>
      </p:pic>
    </p:spTree>
    <p:extLst>
      <p:ext uri="{BB962C8B-B14F-4D97-AF65-F5344CB8AC3E}">
        <p14:creationId xmlns:p14="http://schemas.microsoft.com/office/powerpoint/2010/main" val="319410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CA376-5EE2-1283-C345-5B375D868BBD}"/>
              </a:ext>
            </a:extLst>
          </p:cNvPr>
          <p:cNvSpPr>
            <a:spLocks noGrp="1"/>
          </p:cNvSpPr>
          <p:nvPr>
            <p:ph type="title"/>
          </p:nvPr>
        </p:nvSpPr>
        <p:spPr/>
        <p:txBody>
          <a:bodyPr/>
          <a:lstStyle/>
          <a:p>
            <a:r>
              <a:rPr lang="en-IN" b="1" dirty="0">
                <a:latin typeface="Calibri bold" panose="020F0702030404030204" pitchFamily="34" charset="0"/>
                <a:ea typeface="Calibri bold" panose="020F0702030404030204" pitchFamily="34" charset="0"/>
                <a:cs typeface="Calibri bold" panose="020F0702030404030204" pitchFamily="34" charset="0"/>
              </a:rPr>
              <a:t>Income Outlier Detection</a:t>
            </a:r>
            <a:br>
              <a:rPr lang="en-IN" b="1" dirty="0">
                <a:latin typeface="Calibri bold" panose="020F0702030404030204" pitchFamily="34" charset="0"/>
                <a:ea typeface="Calibri bold" panose="020F0702030404030204" pitchFamily="34" charset="0"/>
                <a:cs typeface="Calibri bold" panose="020F0702030404030204" pitchFamily="34" charset="0"/>
              </a:rPr>
            </a:b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472228D0-AE07-C65E-5E70-C76E7B055291}"/>
              </a:ext>
            </a:extLst>
          </p:cNvPr>
          <p:cNvSpPr>
            <a:spLocks noGrp="1"/>
          </p:cNvSpPr>
          <p:nvPr>
            <p:ph idx="1"/>
          </p:nvPr>
        </p:nvSpPr>
        <p:spPr>
          <a:xfrm>
            <a:off x="490194" y="2667786"/>
            <a:ext cx="5137607" cy="3352014"/>
          </a:xfrm>
        </p:spPr>
        <p:txBody>
          <a:bodyPr>
            <a:normAutofit fontScale="85000" lnSpcReduction="20000"/>
          </a:bodyPr>
          <a:lstStyle/>
          <a:p>
            <a:r>
              <a:rPr lang="en-US" sz="1600" b="1" dirty="0">
                <a:latin typeface="Calibri" panose="020F0502020204030204" pitchFamily="34" charset="0"/>
                <a:ea typeface="Calibri" panose="020F0502020204030204" pitchFamily="34" charset="0"/>
                <a:cs typeface="Calibri" panose="020F0502020204030204" pitchFamily="34" charset="0"/>
              </a:rPr>
              <a:t>Average Range:</a:t>
            </a:r>
            <a:r>
              <a:rPr lang="en-US" sz="1600" dirty="0">
                <a:latin typeface="Calibri" panose="020F0502020204030204" pitchFamily="34" charset="0"/>
                <a:ea typeface="Calibri" panose="020F0502020204030204" pitchFamily="34" charset="0"/>
                <a:cs typeface="Calibri" panose="020F0502020204030204" pitchFamily="34" charset="0"/>
              </a:rPr>
              <a:t> The blue box represents where the middle </a:t>
            </a:r>
            <a:r>
              <a:rPr lang="en-US" sz="1600" b="1" dirty="0">
                <a:latin typeface="Calibri" panose="020F0502020204030204" pitchFamily="34" charset="0"/>
                <a:ea typeface="Calibri" panose="020F0502020204030204" pitchFamily="34" charset="0"/>
                <a:cs typeface="Calibri" panose="020F0502020204030204" pitchFamily="34" charset="0"/>
              </a:rPr>
              <a:t>50% of our customers</a:t>
            </a:r>
            <a:r>
              <a:rPr lang="en-US" sz="1600" dirty="0">
                <a:latin typeface="Calibri" panose="020F0502020204030204" pitchFamily="34" charset="0"/>
                <a:ea typeface="Calibri" panose="020F0502020204030204" pitchFamily="34" charset="0"/>
                <a:cs typeface="Calibri" panose="020F0502020204030204" pitchFamily="34" charset="0"/>
              </a:rPr>
              <a:t> fall. Most earn between roughly </a:t>
            </a:r>
            <a:r>
              <a:rPr lang="en-US" sz="1600" b="1" dirty="0">
                <a:latin typeface="Calibri" panose="020F0502020204030204" pitchFamily="34" charset="0"/>
                <a:ea typeface="Calibri" panose="020F0502020204030204" pitchFamily="34" charset="0"/>
                <a:cs typeface="Calibri" panose="020F0502020204030204" pitchFamily="34" charset="0"/>
              </a:rPr>
              <a:t>$35,000 and $70,000</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b="1" dirty="0">
                <a:latin typeface="Calibri" panose="020F0502020204030204" pitchFamily="34" charset="0"/>
                <a:ea typeface="Calibri" panose="020F0502020204030204" pitchFamily="34" charset="0"/>
                <a:cs typeface="Calibri" panose="020F0502020204030204" pitchFamily="34" charset="0"/>
              </a:rPr>
              <a:t>The Median:</a:t>
            </a:r>
            <a:r>
              <a:rPr lang="en-US" sz="1600" dirty="0">
                <a:latin typeface="Calibri" panose="020F0502020204030204" pitchFamily="34" charset="0"/>
                <a:ea typeface="Calibri" panose="020F0502020204030204" pitchFamily="34" charset="0"/>
                <a:cs typeface="Calibri" panose="020F0502020204030204" pitchFamily="34" charset="0"/>
              </a:rPr>
              <a:t> The line inside the box shows the "middle" income value, which is approximately </a:t>
            </a:r>
            <a:r>
              <a:rPr lang="en-US" sz="1600" b="1" dirty="0">
                <a:latin typeface="Calibri" panose="020F0502020204030204" pitchFamily="34" charset="0"/>
                <a:ea typeface="Calibri" panose="020F0502020204030204" pitchFamily="34" charset="0"/>
                <a:cs typeface="Calibri" panose="020F0502020204030204" pitchFamily="34" charset="0"/>
              </a:rPr>
              <a:t>$52,000</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b="1" dirty="0">
                <a:latin typeface="Calibri" panose="020F0502020204030204" pitchFamily="34" charset="0"/>
                <a:ea typeface="Calibri" panose="020F0502020204030204" pitchFamily="34" charset="0"/>
                <a:cs typeface="Calibri" panose="020F0502020204030204" pitchFamily="34" charset="0"/>
              </a:rPr>
              <a:t>Total Range:</a:t>
            </a:r>
            <a:r>
              <a:rPr lang="en-US" sz="1600" dirty="0">
                <a:latin typeface="Calibri" panose="020F0502020204030204" pitchFamily="34" charset="0"/>
                <a:ea typeface="Calibri" panose="020F0502020204030204" pitchFamily="34" charset="0"/>
                <a:cs typeface="Calibri" panose="020F0502020204030204" pitchFamily="34" charset="0"/>
              </a:rPr>
              <a:t> Excluding extreme cases, most customer incomes range from near zero up to about </a:t>
            </a:r>
            <a:r>
              <a:rPr lang="en-US" sz="1600" b="1" dirty="0">
                <a:latin typeface="Calibri" panose="020F0502020204030204" pitchFamily="34" charset="0"/>
                <a:ea typeface="Calibri" panose="020F0502020204030204" pitchFamily="34" charset="0"/>
                <a:cs typeface="Calibri" panose="020F0502020204030204" pitchFamily="34" charset="0"/>
              </a:rPr>
              <a:t>$115,000</a:t>
            </a:r>
            <a:r>
              <a:rPr lang="en-US" sz="1600" dirty="0">
                <a:latin typeface="Calibri" panose="020F0502020204030204" pitchFamily="34" charset="0"/>
                <a:ea typeface="Calibri" panose="020F0502020204030204" pitchFamily="34" charset="0"/>
                <a:cs typeface="Calibri" panose="020F0502020204030204" pitchFamily="34" charset="0"/>
              </a:rPr>
              <a:t> (the "whiskers" or horizontal lines).</a:t>
            </a:r>
          </a:p>
          <a:p>
            <a:r>
              <a:rPr lang="en-US" sz="1600" b="1" dirty="0">
                <a:latin typeface="Calibri" panose="020F0502020204030204" pitchFamily="34" charset="0"/>
                <a:ea typeface="Calibri" panose="020F0502020204030204" pitchFamily="34" charset="0"/>
                <a:cs typeface="Calibri" panose="020F0502020204030204" pitchFamily="34" charset="0"/>
              </a:rPr>
              <a:t>High-Income Outliers:</a:t>
            </a:r>
            <a:r>
              <a:rPr lang="en-US" sz="1600" dirty="0">
                <a:latin typeface="Calibri" panose="020F0502020204030204" pitchFamily="34" charset="0"/>
                <a:ea typeface="Calibri" panose="020F0502020204030204" pitchFamily="34" charset="0"/>
                <a:cs typeface="Calibri" panose="020F0502020204030204" pitchFamily="34" charset="0"/>
              </a:rPr>
              <a:t> The small circles on the far right represent </a:t>
            </a:r>
            <a:r>
              <a:rPr lang="en-US" sz="1600" b="1" dirty="0">
                <a:latin typeface="Calibri" panose="020F0502020204030204" pitchFamily="34" charset="0"/>
                <a:ea typeface="Calibri" panose="020F0502020204030204" pitchFamily="34" charset="0"/>
                <a:cs typeface="Calibri" panose="020F0502020204030204" pitchFamily="34" charset="0"/>
              </a:rPr>
              <a:t>outliers</a:t>
            </a:r>
            <a:r>
              <a:rPr lang="en-US" sz="1600" dirty="0">
                <a:latin typeface="Calibri" panose="020F0502020204030204" pitchFamily="34" charset="0"/>
                <a:ea typeface="Calibri" panose="020F0502020204030204" pitchFamily="34" charset="0"/>
                <a:cs typeface="Calibri" panose="020F0502020204030204" pitchFamily="34" charset="0"/>
              </a:rPr>
              <a:t>. These are a few rare customers earning significantly more than the rest, between </a:t>
            </a:r>
            <a:r>
              <a:rPr lang="en-US" sz="1600" b="1" dirty="0">
                <a:latin typeface="Calibri" panose="020F0502020204030204" pitchFamily="34" charset="0"/>
                <a:ea typeface="Calibri" panose="020F0502020204030204" pitchFamily="34" charset="0"/>
                <a:cs typeface="Calibri" panose="020F0502020204030204" pitchFamily="34" charset="0"/>
              </a:rPr>
              <a:t>$150,000 and $165,000</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b="1" dirty="0">
                <a:latin typeface="Calibri" panose="020F0502020204030204" pitchFamily="34" charset="0"/>
                <a:ea typeface="Calibri" panose="020F0502020204030204" pitchFamily="34" charset="0"/>
                <a:cs typeface="Calibri" panose="020F0502020204030204" pitchFamily="34" charset="0"/>
              </a:rPr>
              <a:t>Takeaway:</a:t>
            </a:r>
            <a:r>
              <a:rPr lang="en-US" sz="1600" dirty="0">
                <a:latin typeface="Calibri" panose="020F0502020204030204" pitchFamily="34" charset="0"/>
                <a:ea typeface="Calibri" panose="020F0502020204030204" pitchFamily="34" charset="0"/>
                <a:cs typeface="Calibri" panose="020F0502020204030204" pitchFamily="34" charset="0"/>
              </a:rPr>
              <a:t> Our "typical" customer is middle-income. While we have some very wealthy outliers, they are not representative of our main customer base.</a:t>
            </a:r>
          </a:p>
          <a:p>
            <a:endParaRPr lang="en-IN" sz="1600" dirty="0"/>
          </a:p>
        </p:txBody>
      </p:sp>
      <p:pic>
        <p:nvPicPr>
          <p:cNvPr id="5" name="Picture 4">
            <a:extLst>
              <a:ext uri="{FF2B5EF4-FFF2-40B4-BE49-F238E27FC236}">
                <a16:creationId xmlns:a16="http://schemas.microsoft.com/office/drawing/2014/main" id="{9A2E4324-907D-851F-4C44-00F4BADD1ADE}"/>
              </a:ext>
            </a:extLst>
          </p:cNvPr>
          <p:cNvPicPr>
            <a:picLocks noChangeAspect="1"/>
          </p:cNvPicPr>
          <p:nvPr/>
        </p:nvPicPr>
        <p:blipFill>
          <a:blip r:embed="rId3"/>
          <a:stretch>
            <a:fillRect/>
          </a:stretch>
        </p:blipFill>
        <p:spPr>
          <a:xfrm>
            <a:off x="5797484" y="2442294"/>
            <a:ext cx="6253113" cy="4081054"/>
          </a:xfrm>
          <a:prstGeom prst="rect">
            <a:avLst/>
          </a:prstGeom>
        </p:spPr>
      </p:pic>
    </p:spTree>
    <p:extLst>
      <p:ext uri="{BB962C8B-B14F-4D97-AF65-F5344CB8AC3E}">
        <p14:creationId xmlns:p14="http://schemas.microsoft.com/office/powerpoint/2010/main" val="699510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49F40-3D06-F80E-DD62-DCE7C8A3131C}"/>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Income Distribution After Cleaning</a:t>
            </a:r>
          </a:p>
        </p:txBody>
      </p:sp>
      <p:sp>
        <p:nvSpPr>
          <p:cNvPr id="3" name="Content Placeholder 2">
            <a:extLst>
              <a:ext uri="{FF2B5EF4-FFF2-40B4-BE49-F238E27FC236}">
                <a16:creationId xmlns:a16="http://schemas.microsoft.com/office/drawing/2014/main" id="{670917B9-62A3-04A4-CBB6-750C95EEBBA8}"/>
              </a:ext>
            </a:extLst>
          </p:cNvPr>
          <p:cNvSpPr>
            <a:spLocks noGrp="1"/>
          </p:cNvSpPr>
          <p:nvPr>
            <p:ph idx="1"/>
          </p:nvPr>
        </p:nvSpPr>
        <p:spPr>
          <a:xfrm>
            <a:off x="5854046" y="2667786"/>
            <a:ext cx="5759778" cy="3352014"/>
          </a:xfrm>
        </p:spPr>
        <p:txBody>
          <a:bodyPr>
            <a:normAutofit fontScale="85000" lnSpcReduction="20000"/>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Outlier Removal:</a:t>
            </a:r>
            <a:r>
              <a:rPr lang="en-US" dirty="0">
                <a:latin typeface="Calibri" panose="020F0502020204030204" pitchFamily="34" charset="0"/>
                <a:ea typeface="Calibri" panose="020F0502020204030204" pitchFamily="34" charset="0"/>
                <a:cs typeface="Calibri" panose="020F0502020204030204" pitchFamily="34" charset="0"/>
              </a:rPr>
              <a:t> The data was cleaned by identifying and removing extreme income values (specifically any income above </a:t>
            </a:r>
            <a:r>
              <a:rPr lang="en-US" b="1" dirty="0">
                <a:latin typeface="Calibri" panose="020F0502020204030204" pitchFamily="34" charset="0"/>
                <a:ea typeface="Calibri" panose="020F0502020204030204" pitchFamily="34" charset="0"/>
                <a:cs typeface="Calibri" panose="020F0502020204030204" pitchFamily="34" charset="0"/>
              </a:rPr>
              <a:t>$300,000</a:t>
            </a:r>
            <a:r>
              <a:rPr lang="en-US" dirty="0">
                <a:latin typeface="Calibri" panose="020F0502020204030204" pitchFamily="34" charset="0"/>
                <a:ea typeface="Calibri" panose="020F0502020204030204" pitchFamily="34" charset="0"/>
                <a:cs typeface="Calibri" panose="020F0502020204030204" pitchFamily="34" charset="0"/>
              </a:rPr>
              <a:t>). These rare, high-value points were removed because they were likely errors or unusual cases that would distort the overall business analysis.</a:t>
            </a:r>
          </a:p>
          <a:p>
            <a:pPr algn="just"/>
            <a:r>
              <a:rPr lang="en-US" b="1" dirty="0">
                <a:latin typeface="Calibri" panose="020F0502020204030204" pitchFamily="34" charset="0"/>
                <a:ea typeface="Calibri" panose="020F0502020204030204" pitchFamily="34" charset="0"/>
                <a:cs typeface="Calibri" panose="020F0502020204030204" pitchFamily="34" charset="0"/>
              </a:rPr>
              <a:t>Targeted Focus:</a:t>
            </a:r>
            <a:r>
              <a:rPr lang="en-US" dirty="0">
                <a:latin typeface="Calibri" panose="020F0502020204030204" pitchFamily="34" charset="0"/>
                <a:ea typeface="Calibri" panose="020F0502020204030204" pitchFamily="34" charset="0"/>
                <a:cs typeface="Calibri" panose="020F0502020204030204" pitchFamily="34" charset="0"/>
              </a:rPr>
              <a:t> After cleaning, the analysis focuses on the core customer base, where incomes typically range from </a:t>
            </a:r>
            <a:r>
              <a:rPr lang="en-US" b="1" dirty="0">
                <a:latin typeface="Calibri" panose="020F0502020204030204" pitchFamily="34" charset="0"/>
                <a:ea typeface="Calibri" panose="020F0502020204030204" pitchFamily="34" charset="0"/>
                <a:cs typeface="Calibri" panose="020F0502020204030204" pitchFamily="34" charset="0"/>
              </a:rPr>
              <a:t>$0 to $160,000</a:t>
            </a:r>
            <a:r>
              <a:rPr lang="en-US" dirty="0">
                <a:latin typeface="Calibri" panose="020F0502020204030204" pitchFamily="34" charset="0"/>
                <a:ea typeface="Calibri" panose="020F0502020204030204" pitchFamily="34" charset="0"/>
                <a:cs typeface="Calibri" panose="020F0502020204030204" pitchFamily="34" charset="0"/>
              </a:rPr>
              <a:t>.</a:t>
            </a:r>
          </a:p>
          <a:p>
            <a:pPr algn="just"/>
            <a:r>
              <a:rPr lang="en-US" b="1" dirty="0">
                <a:latin typeface="Calibri" panose="020F0502020204030204" pitchFamily="34" charset="0"/>
                <a:ea typeface="Calibri" panose="020F0502020204030204" pitchFamily="34" charset="0"/>
                <a:cs typeface="Calibri" panose="020F0502020204030204" pitchFamily="34" charset="0"/>
              </a:rPr>
              <a:t>Normalized Scaling:</a:t>
            </a:r>
            <a:r>
              <a:rPr lang="en-US" dirty="0">
                <a:latin typeface="Calibri" panose="020F0502020204030204" pitchFamily="34" charset="0"/>
                <a:ea typeface="Calibri" panose="020F0502020204030204" pitchFamily="34" charset="0"/>
                <a:cs typeface="Calibri" panose="020F0502020204030204" pitchFamily="34" charset="0"/>
              </a:rPr>
              <a:t> By removing the "extreme" outliers, the charts (like Box Plots and Histograms) become more readable, allowing us to see the exact spread of the middle 50% of our customers.</a:t>
            </a:r>
          </a:p>
          <a:p>
            <a:pPr algn="just"/>
            <a:r>
              <a:rPr lang="en-US" b="1" dirty="0">
                <a:latin typeface="Calibri" panose="020F0502020204030204" pitchFamily="34" charset="0"/>
                <a:ea typeface="Calibri" panose="020F0502020204030204" pitchFamily="34" charset="0"/>
                <a:cs typeface="Calibri" panose="020F0502020204030204" pitchFamily="34" charset="0"/>
              </a:rPr>
              <a:t>Better Model Accuracy:</a:t>
            </a:r>
            <a:r>
              <a:rPr lang="en-US" dirty="0">
                <a:latin typeface="Calibri" panose="020F0502020204030204" pitchFamily="34" charset="0"/>
                <a:ea typeface="Calibri" panose="020F0502020204030204" pitchFamily="34" charset="0"/>
                <a:cs typeface="Calibri" panose="020F0502020204030204" pitchFamily="34" charset="0"/>
              </a:rPr>
              <a:t> This cleaning step is essential for the </a:t>
            </a:r>
            <a:r>
              <a:rPr lang="en-US" b="1" dirty="0">
                <a:latin typeface="Calibri" panose="020F0502020204030204" pitchFamily="34" charset="0"/>
                <a:ea typeface="Calibri" panose="020F0502020204030204" pitchFamily="34" charset="0"/>
                <a:cs typeface="Calibri" panose="020F0502020204030204" pitchFamily="34" charset="0"/>
              </a:rPr>
              <a:t>K-Means Clustering</a:t>
            </a:r>
            <a:r>
              <a:rPr lang="en-US" dirty="0">
                <a:latin typeface="Calibri" panose="020F0502020204030204" pitchFamily="34" charset="0"/>
                <a:ea typeface="Calibri" panose="020F0502020204030204" pitchFamily="34" charset="0"/>
                <a:cs typeface="Calibri" panose="020F0502020204030204" pitchFamily="34" charset="0"/>
              </a:rPr>
              <a:t> model used later in the project. It ensures that the "segments" are based on the habits of the majority, rather than being pulled away by a few extreme anomalies.</a:t>
            </a:r>
          </a:p>
        </p:txBody>
      </p:sp>
      <p:pic>
        <p:nvPicPr>
          <p:cNvPr id="5" name="Picture 4">
            <a:extLst>
              <a:ext uri="{FF2B5EF4-FFF2-40B4-BE49-F238E27FC236}">
                <a16:creationId xmlns:a16="http://schemas.microsoft.com/office/drawing/2014/main" id="{0F8B810E-7BB4-92FC-5609-BAA06208224E}"/>
              </a:ext>
            </a:extLst>
          </p:cNvPr>
          <p:cNvPicPr>
            <a:picLocks noChangeAspect="1"/>
          </p:cNvPicPr>
          <p:nvPr/>
        </p:nvPicPr>
        <p:blipFill>
          <a:blip r:embed="rId3"/>
          <a:stretch>
            <a:fillRect/>
          </a:stretch>
        </p:blipFill>
        <p:spPr>
          <a:xfrm>
            <a:off x="410900" y="2432115"/>
            <a:ext cx="5361447" cy="4034673"/>
          </a:xfrm>
          <a:prstGeom prst="rect">
            <a:avLst/>
          </a:prstGeom>
        </p:spPr>
      </p:pic>
    </p:spTree>
    <p:extLst>
      <p:ext uri="{BB962C8B-B14F-4D97-AF65-F5344CB8AC3E}">
        <p14:creationId xmlns:p14="http://schemas.microsoft.com/office/powerpoint/2010/main" val="1276784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0283-228B-F412-8E8A-9C44F09CB202}"/>
              </a:ext>
            </a:extLst>
          </p:cNvPr>
          <p:cNvSpPr>
            <a:spLocks noGrp="1"/>
          </p:cNvSpPr>
          <p:nvPr>
            <p:ph type="title"/>
          </p:nvPr>
        </p:nvSpPr>
        <p:spPr/>
        <p:txBody>
          <a:bodyPr/>
          <a:lstStyle/>
          <a:p>
            <a:r>
              <a:rPr lang="en-IN" b="1" dirty="0"/>
              <a:t>Total Spending Analysis</a:t>
            </a:r>
            <a:br>
              <a:rPr lang="en-IN" b="1" dirty="0"/>
            </a:br>
            <a:endParaRPr lang="en-IN" dirty="0"/>
          </a:p>
        </p:txBody>
      </p:sp>
      <p:sp>
        <p:nvSpPr>
          <p:cNvPr id="3" name="Content Placeholder 2">
            <a:extLst>
              <a:ext uri="{FF2B5EF4-FFF2-40B4-BE49-F238E27FC236}">
                <a16:creationId xmlns:a16="http://schemas.microsoft.com/office/drawing/2014/main" id="{76F064F7-8811-56A5-5EAB-7BBA4104F1CE}"/>
              </a:ext>
            </a:extLst>
          </p:cNvPr>
          <p:cNvSpPr>
            <a:spLocks noGrp="1"/>
          </p:cNvSpPr>
          <p:nvPr>
            <p:ph idx="1"/>
          </p:nvPr>
        </p:nvSpPr>
        <p:spPr>
          <a:xfrm>
            <a:off x="5920033" y="2371429"/>
            <a:ext cx="5759777" cy="4293321"/>
          </a:xfrm>
        </p:spPr>
        <p:txBody>
          <a:bodyPr>
            <a:noAutofit/>
          </a:bodyPr>
          <a:lstStyle/>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 1. Calculation of Total Spending</a:t>
            </a:r>
          </a:p>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 Composite Metric:</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TotalSpent</a:t>
            </a:r>
            <a:r>
              <a:rPr lang="en-US" sz="1200" dirty="0">
                <a:latin typeface="Calibri" panose="020F0502020204030204" pitchFamily="34" charset="0"/>
                <a:ea typeface="Calibri" panose="020F0502020204030204" pitchFamily="34" charset="0"/>
                <a:cs typeface="Calibri" panose="020F0502020204030204" pitchFamily="34" charset="0"/>
              </a:rPr>
              <a:t> was not a single column in the raw data. It was created by summing the spending across six different product categories:</a:t>
            </a:r>
          </a:p>
          <a:p>
            <a:pPr marL="0" indent="0" algn="just">
              <a:buNone/>
            </a:pPr>
            <a:r>
              <a:rPr lang="en-US" sz="1200" dirty="0">
                <a:latin typeface="Calibri" panose="020F0502020204030204" pitchFamily="34" charset="0"/>
                <a:ea typeface="Calibri" panose="020F0502020204030204" pitchFamily="34" charset="0"/>
                <a:cs typeface="Calibri" panose="020F0502020204030204" pitchFamily="34" charset="0"/>
              </a:rPr>
              <a:t>Wines, Fruits, Meat Products, Fish Products, Sweet Products, and Gold Products.</a:t>
            </a:r>
          </a:p>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Purpose:</a:t>
            </a:r>
            <a:r>
              <a:rPr lang="en-US" sz="1200" dirty="0">
                <a:latin typeface="Calibri" panose="020F0502020204030204" pitchFamily="34" charset="0"/>
                <a:ea typeface="Calibri" panose="020F0502020204030204" pitchFamily="34" charset="0"/>
                <a:cs typeface="Calibri" panose="020F0502020204030204" pitchFamily="34" charset="0"/>
              </a:rPr>
              <a:t> This provides a "big picture" view of a customer's total value to the business rather than looking at individual item purchases.</a:t>
            </a:r>
          </a:p>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2. Spending Distribution</a:t>
            </a:r>
          </a:p>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Concentration:</a:t>
            </a:r>
            <a:r>
              <a:rPr lang="en-US" sz="1200" dirty="0">
                <a:latin typeface="Calibri" panose="020F0502020204030204" pitchFamily="34" charset="0"/>
                <a:ea typeface="Calibri" panose="020F0502020204030204" pitchFamily="34" charset="0"/>
                <a:cs typeface="Calibri" panose="020F0502020204030204" pitchFamily="34" charset="0"/>
              </a:rPr>
              <a:t> Most customers fall into the lower spending brackets (below $500), but there is a long "tail" of high-spending customers.</a:t>
            </a:r>
          </a:p>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Data Spread:</a:t>
            </a:r>
            <a:r>
              <a:rPr lang="en-US" sz="1200" dirty="0">
                <a:latin typeface="Calibri" panose="020F0502020204030204" pitchFamily="34" charset="0"/>
                <a:ea typeface="Calibri" panose="020F0502020204030204" pitchFamily="34" charset="0"/>
                <a:cs typeface="Calibri" panose="020F0502020204030204" pitchFamily="34" charset="0"/>
              </a:rPr>
              <a:t> The notebook uses Box Plots and Distribution Plots to identify that while most spending is modest, "Premium" customers spend up to $2,500.</a:t>
            </a:r>
          </a:p>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3. Key Correlations</a:t>
            </a:r>
          </a:p>
          <a:p>
            <a:pPr marL="0" indent="0" algn="just">
              <a:buNone/>
            </a:pPr>
            <a:r>
              <a:rPr lang="en-US" sz="1200" b="1" dirty="0">
                <a:latin typeface="Calibri" panose="020F0502020204030204" pitchFamily="34" charset="0"/>
                <a:ea typeface="Calibri" panose="020F0502020204030204" pitchFamily="34" charset="0"/>
                <a:cs typeface="Calibri" panose="020F0502020204030204" pitchFamily="34" charset="0"/>
              </a:rPr>
              <a:t>Income vs. Spending:</a:t>
            </a:r>
            <a:r>
              <a:rPr lang="en-US" sz="1200" dirty="0">
                <a:latin typeface="Calibri" panose="020F0502020204030204" pitchFamily="34" charset="0"/>
                <a:ea typeface="Calibri" panose="020F0502020204030204" pitchFamily="34" charset="0"/>
                <a:cs typeface="Calibri" panose="020F0502020204030204" pitchFamily="34" charset="0"/>
              </a:rPr>
              <a:t> The most significant finding is a </a:t>
            </a:r>
            <a:r>
              <a:rPr lang="en-US" sz="1200" b="1" dirty="0">
                <a:latin typeface="Calibri" panose="020F0502020204030204" pitchFamily="34" charset="0"/>
                <a:ea typeface="Calibri" panose="020F0502020204030204" pitchFamily="34" charset="0"/>
                <a:cs typeface="Calibri" panose="020F0502020204030204" pitchFamily="34" charset="0"/>
              </a:rPr>
              <a:t>strong positive correlation</a:t>
            </a:r>
            <a:r>
              <a:rPr lang="en-US" sz="1200" dirty="0">
                <a:latin typeface="Calibri" panose="020F0502020204030204" pitchFamily="34" charset="0"/>
                <a:ea typeface="Calibri" panose="020F0502020204030204" pitchFamily="34" charset="0"/>
                <a:cs typeface="Calibri" panose="020F0502020204030204" pitchFamily="34" charset="0"/>
              </a:rPr>
              <a:t> between Income and Total Spending. As income increases, the likelihood of being a high spender increases significantly.</a:t>
            </a:r>
          </a:p>
        </p:txBody>
      </p:sp>
      <p:pic>
        <p:nvPicPr>
          <p:cNvPr id="5" name="Picture 4">
            <a:extLst>
              <a:ext uri="{FF2B5EF4-FFF2-40B4-BE49-F238E27FC236}">
                <a16:creationId xmlns:a16="http://schemas.microsoft.com/office/drawing/2014/main" id="{C3FEA70B-6830-A911-0B28-2771A57F7023}"/>
              </a:ext>
            </a:extLst>
          </p:cNvPr>
          <p:cNvPicPr>
            <a:picLocks noChangeAspect="1"/>
          </p:cNvPicPr>
          <p:nvPr/>
        </p:nvPicPr>
        <p:blipFill>
          <a:blip r:embed="rId3"/>
          <a:stretch>
            <a:fillRect/>
          </a:stretch>
        </p:blipFill>
        <p:spPr>
          <a:xfrm>
            <a:off x="311084" y="2525172"/>
            <a:ext cx="5656083" cy="3648370"/>
          </a:xfrm>
          <a:prstGeom prst="rect">
            <a:avLst/>
          </a:prstGeom>
        </p:spPr>
      </p:pic>
    </p:spTree>
    <p:extLst>
      <p:ext uri="{BB962C8B-B14F-4D97-AF65-F5344CB8AC3E}">
        <p14:creationId xmlns:p14="http://schemas.microsoft.com/office/powerpoint/2010/main" val="2381956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4256A-60F1-C987-79B6-C5E46A0DA616}"/>
              </a:ext>
            </a:extLst>
          </p:cNvPr>
          <p:cNvSpPr>
            <a:spLocks noGrp="1"/>
          </p:cNvSpPr>
          <p:nvPr>
            <p:ph type="title"/>
          </p:nvPr>
        </p:nvSpPr>
        <p:spPr/>
        <p:txBody>
          <a:bodyPr/>
          <a:lstStyle/>
          <a:p>
            <a:r>
              <a:rPr lang="en-IN" b="1" dirty="0"/>
              <a:t>Total Purchases Analysis</a:t>
            </a:r>
            <a:br>
              <a:rPr lang="en-IN" b="1" dirty="0"/>
            </a:br>
            <a:endParaRPr lang="en-IN" dirty="0"/>
          </a:p>
        </p:txBody>
      </p:sp>
      <p:sp>
        <p:nvSpPr>
          <p:cNvPr id="3" name="Content Placeholder 2">
            <a:extLst>
              <a:ext uri="{FF2B5EF4-FFF2-40B4-BE49-F238E27FC236}">
                <a16:creationId xmlns:a16="http://schemas.microsoft.com/office/drawing/2014/main" id="{3FBF6455-4E6A-CDA7-7728-E7AC925B0E73}"/>
              </a:ext>
            </a:extLst>
          </p:cNvPr>
          <p:cNvSpPr>
            <a:spLocks noGrp="1"/>
          </p:cNvSpPr>
          <p:nvPr>
            <p:ph idx="1"/>
          </p:nvPr>
        </p:nvSpPr>
        <p:spPr>
          <a:xfrm>
            <a:off x="606458" y="2790334"/>
            <a:ext cx="6077146" cy="3229466"/>
          </a:xfrm>
        </p:spPr>
        <p:txBody>
          <a:bodyPr>
            <a:norm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Multi-Channel Calculation:</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TotalPurchases</a:t>
            </a:r>
            <a:r>
              <a:rPr lang="en-US" sz="1600" dirty="0">
                <a:latin typeface="Calibri" panose="020F0502020204030204" pitchFamily="34" charset="0"/>
                <a:ea typeface="Calibri" panose="020F0502020204030204" pitchFamily="34" charset="0"/>
                <a:cs typeface="Calibri" panose="020F0502020204030204" pitchFamily="34" charset="0"/>
              </a:rPr>
              <a:t> was created by combining transactions from three different sales channels: </a:t>
            </a:r>
            <a:r>
              <a:rPr lang="en-US" sz="1600" b="1" dirty="0">
                <a:latin typeface="Calibri" panose="020F0502020204030204" pitchFamily="34" charset="0"/>
                <a:ea typeface="Calibri" panose="020F0502020204030204" pitchFamily="34" charset="0"/>
                <a:cs typeface="Calibri" panose="020F0502020204030204" pitchFamily="34" charset="0"/>
              </a:rPr>
              <a:t>Web Purchases</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1" dirty="0">
                <a:latin typeface="Calibri" panose="020F0502020204030204" pitchFamily="34" charset="0"/>
                <a:ea typeface="Calibri" panose="020F0502020204030204" pitchFamily="34" charset="0"/>
                <a:cs typeface="Calibri" panose="020F0502020204030204" pitchFamily="34" charset="0"/>
              </a:rPr>
              <a:t>Catalog Purchases</a:t>
            </a:r>
            <a:r>
              <a:rPr lang="en-US" sz="1600" dirty="0">
                <a:latin typeface="Calibri" panose="020F0502020204030204" pitchFamily="34" charset="0"/>
                <a:ea typeface="Calibri" panose="020F0502020204030204" pitchFamily="34" charset="0"/>
                <a:cs typeface="Calibri" panose="020F0502020204030204" pitchFamily="34" charset="0"/>
              </a:rPr>
              <a:t>, and </a:t>
            </a:r>
            <a:r>
              <a:rPr lang="en-US" sz="1600" b="1" dirty="0">
                <a:latin typeface="Calibri" panose="020F0502020204030204" pitchFamily="34" charset="0"/>
                <a:ea typeface="Calibri" panose="020F0502020204030204" pitchFamily="34" charset="0"/>
                <a:cs typeface="Calibri" panose="020F0502020204030204" pitchFamily="34" charset="0"/>
              </a:rPr>
              <a:t>Store Purchases</a:t>
            </a:r>
            <a:r>
              <a:rPr lang="en-US" sz="1600" dirty="0">
                <a:latin typeface="Calibri" panose="020F0502020204030204" pitchFamily="34" charset="0"/>
                <a:ea typeface="Calibri" panose="020F0502020204030204" pitchFamily="34" charset="0"/>
                <a:cs typeface="Calibri" panose="020F0502020204030204" pitchFamily="34" charset="0"/>
              </a:rPr>
              <a:t>. This provides a complete view of how often a customer engages with the brand.</a:t>
            </a:r>
          </a:p>
          <a:p>
            <a:r>
              <a:rPr lang="en-US" sz="1600" b="1" dirty="0">
                <a:latin typeface="Calibri" panose="020F0502020204030204" pitchFamily="34" charset="0"/>
                <a:ea typeface="Calibri" panose="020F0502020204030204" pitchFamily="34" charset="0"/>
                <a:cs typeface="Calibri" panose="020F0502020204030204" pitchFamily="34" charset="0"/>
              </a:rPr>
              <a:t>Omnichannel Behavior:</a:t>
            </a:r>
            <a:r>
              <a:rPr lang="en-US" sz="1600" dirty="0">
                <a:latin typeface="Calibri" panose="020F0502020204030204" pitchFamily="34" charset="0"/>
                <a:ea typeface="Calibri" panose="020F0502020204030204" pitchFamily="34" charset="0"/>
                <a:cs typeface="Calibri" panose="020F0502020204030204" pitchFamily="34" charset="0"/>
              </a:rPr>
              <a:t> By summing these channels, the analysis moves away from looking at just one type of shopping and instead captures the customer's overall shopping frequency.</a:t>
            </a:r>
          </a:p>
          <a:p>
            <a:r>
              <a:rPr lang="en-US" sz="1600" b="1" dirty="0">
                <a:latin typeface="Calibri" panose="020F0502020204030204" pitchFamily="34" charset="0"/>
                <a:ea typeface="Calibri" panose="020F0502020204030204" pitchFamily="34" charset="0"/>
                <a:cs typeface="Calibri" panose="020F0502020204030204" pitchFamily="34" charset="0"/>
              </a:rPr>
              <a:t>Key Feature for Clustering: </a:t>
            </a:r>
            <a:r>
              <a:rPr lang="en-US" sz="1600" dirty="0" err="1">
                <a:latin typeface="Calibri" panose="020F0502020204030204" pitchFamily="34" charset="0"/>
                <a:ea typeface="Calibri" panose="020F0502020204030204" pitchFamily="34" charset="0"/>
                <a:cs typeface="Calibri" panose="020F0502020204030204" pitchFamily="34" charset="0"/>
              </a:rPr>
              <a:t>TotalPurchases</a:t>
            </a:r>
            <a:r>
              <a:rPr lang="en-US" sz="1600" dirty="0">
                <a:latin typeface="Calibri" panose="020F0502020204030204" pitchFamily="34" charset="0"/>
                <a:ea typeface="Calibri" panose="020F0502020204030204" pitchFamily="34" charset="0"/>
                <a:cs typeface="Calibri" panose="020F0502020204030204" pitchFamily="34" charset="0"/>
              </a:rPr>
              <a:t> was identified as a critical variable for the K-Means Clustering model. In fact, adding this feature improved the model's accuracy (Silhouette Score) significantly, moving it to 0.4842.</a:t>
            </a:r>
          </a:p>
        </p:txBody>
      </p:sp>
      <p:pic>
        <p:nvPicPr>
          <p:cNvPr id="5" name="Picture 4">
            <a:extLst>
              <a:ext uri="{FF2B5EF4-FFF2-40B4-BE49-F238E27FC236}">
                <a16:creationId xmlns:a16="http://schemas.microsoft.com/office/drawing/2014/main" id="{84C5A3DF-EA21-78A8-F317-103167004918}"/>
              </a:ext>
            </a:extLst>
          </p:cNvPr>
          <p:cNvPicPr>
            <a:picLocks noChangeAspect="1"/>
          </p:cNvPicPr>
          <p:nvPr/>
        </p:nvPicPr>
        <p:blipFill>
          <a:blip r:embed="rId3"/>
          <a:stretch>
            <a:fillRect/>
          </a:stretch>
        </p:blipFill>
        <p:spPr>
          <a:xfrm>
            <a:off x="6834433" y="2507530"/>
            <a:ext cx="4751109" cy="3987538"/>
          </a:xfrm>
          <a:prstGeom prst="rect">
            <a:avLst/>
          </a:prstGeom>
        </p:spPr>
      </p:pic>
    </p:spTree>
    <p:extLst>
      <p:ext uri="{BB962C8B-B14F-4D97-AF65-F5344CB8AC3E}">
        <p14:creationId xmlns:p14="http://schemas.microsoft.com/office/powerpoint/2010/main" val="3525162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0A8B-173A-7E84-E34A-D07956EE4BAE}"/>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Insights from Data Analysis</a:t>
            </a:r>
          </a:p>
        </p:txBody>
      </p:sp>
      <p:sp>
        <p:nvSpPr>
          <p:cNvPr id="3" name="Content Placeholder 2">
            <a:extLst>
              <a:ext uri="{FF2B5EF4-FFF2-40B4-BE49-F238E27FC236}">
                <a16:creationId xmlns:a16="http://schemas.microsoft.com/office/drawing/2014/main" id="{229AEA34-652F-B2F0-90B4-B940D9E71312}"/>
              </a:ext>
            </a:extLst>
          </p:cNvPr>
          <p:cNvSpPr>
            <a:spLocks noGrp="1"/>
          </p:cNvSpPr>
          <p:nvPr>
            <p:ph idx="1"/>
          </p:nvPr>
        </p:nvSpPr>
        <p:spPr>
          <a:xfrm>
            <a:off x="5724055" y="2890684"/>
            <a:ext cx="5782244" cy="3126658"/>
          </a:xfrm>
        </p:spPr>
        <p:txBody>
          <a:bodyPr>
            <a:normAutofit/>
          </a:bodyPr>
          <a:lstStyle/>
          <a:p>
            <a:r>
              <a:rPr lang="en-US" dirty="0">
                <a:latin typeface="Calibri "/>
              </a:rPr>
              <a:t>From the exploratory data analysis, we observed several patterns in customer behavior.</a:t>
            </a:r>
          </a:p>
          <a:p>
            <a:r>
              <a:rPr lang="en-US" dirty="0">
                <a:latin typeface="Calibri "/>
              </a:rPr>
              <a:t>For example:</a:t>
            </a:r>
          </a:p>
          <a:p>
            <a:pPr marL="0" indent="0">
              <a:buNone/>
            </a:pPr>
            <a:r>
              <a:rPr lang="en-US" dirty="0">
                <a:latin typeface="Calibri "/>
              </a:rPr>
              <a:t>• Customers with higher income generally spend more on products</a:t>
            </a:r>
            <a:br>
              <a:rPr lang="en-US" dirty="0">
                <a:latin typeface="Calibri "/>
              </a:rPr>
            </a:br>
            <a:r>
              <a:rPr lang="en-US" dirty="0">
                <a:latin typeface="Calibri "/>
              </a:rPr>
              <a:t>• Certain product categories are more popular among customers</a:t>
            </a:r>
            <a:br>
              <a:rPr lang="en-US" dirty="0">
                <a:latin typeface="Calibri "/>
              </a:rPr>
            </a:br>
            <a:r>
              <a:rPr lang="en-US" dirty="0">
                <a:latin typeface="Calibri "/>
              </a:rPr>
              <a:t>• Purchase behavior varies across different customer groups</a:t>
            </a:r>
          </a:p>
          <a:p>
            <a:endParaRPr lang="en-IN" dirty="0"/>
          </a:p>
        </p:txBody>
      </p:sp>
      <p:pic>
        <p:nvPicPr>
          <p:cNvPr id="5" name="Picture 4">
            <a:extLst>
              <a:ext uri="{FF2B5EF4-FFF2-40B4-BE49-F238E27FC236}">
                <a16:creationId xmlns:a16="http://schemas.microsoft.com/office/drawing/2014/main" id="{9400F80D-68E1-AD1B-B44B-C70991B4CD58}"/>
              </a:ext>
            </a:extLst>
          </p:cNvPr>
          <p:cNvPicPr>
            <a:picLocks noChangeAspect="1"/>
          </p:cNvPicPr>
          <p:nvPr/>
        </p:nvPicPr>
        <p:blipFill>
          <a:blip r:embed="rId3"/>
          <a:stretch>
            <a:fillRect/>
          </a:stretch>
        </p:blipFill>
        <p:spPr>
          <a:xfrm>
            <a:off x="685702" y="2271251"/>
            <a:ext cx="5038353" cy="4439265"/>
          </a:xfrm>
          <a:prstGeom prst="rect">
            <a:avLst/>
          </a:prstGeom>
        </p:spPr>
      </p:pic>
    </p:spTree>
    <p:extLst>
      <p:ext uri="{BB962C8B-B14F-4D97-AF65-F5344CB8AC3E}">
        <p14:creationId xmlns:p14="http://schemas.microsoft.com/office/powerpoint/2010/main" val="107562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F6553-574D-4834-083D-299FA410D6E0}"/>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 Machine Learning Technique</a:t>
            </a:r>
          </a:p>
        </p:txBody>
      </p:sp>
      <p:sp>
        <p:nvSpPr>
          <p:cNvPr id="3" name="Content Placeholder 2">
            <a:extLst>
              <a:ext uri="{FF2B5EF4-FFF2-40B4-BE49-F238E27FC236}">
                <a16:creationId xmlns:a16="http://schemas.microsoft.com/office/drawing/2014/main" id="{D1C0F98A-DF83-6C82-A441-5480ADE51AFE}"/>
              </a:ext>
            </a:extLst>
          </p:cNvPr>
          <p:cNvSpPr>
            <a:spLocks noGrp="1"/>
          </p:cNvSpPr>
          <p:nvPr>
            <p:ph idx="1"/>
          </p:nvPr>
        </p:nvSpPr>
        <p:spPr>
          <a:xfrm>
            <a:off x="5191431" y="2945297"/>
            <a:ext cx="6415550" cy="3050150"/>
          </a:xfrm>
        </p:spPr>
        <p:txBody>
          <a:bodyPr>
            <a:normAutofit fontScale="85000" lnSpcReduction="20000"/>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To identify different customer groups, we used a machine learning technique called clustering.</a:t>
            </a:r>
          </a:p>
          <a:p>
            <a:pPr algn="just"/>
            <a:r>
              <a:rPr lang="en-US" dirty="0">
                <a:latin typeface="Calibri" panose="020F0502020204030204" pitchFamily="34" charset="0"/>
                <a:ea typeface="Calibri" panose="020F0502020204030204" pitchFamily="34" charset="0"/>
                <a:cs typeface="Calibri" panose="020F0502020204030204" pitchFamily="34" charset="0"/>
              </a:rPr>
              <a:t>Clustering helps group customers who have similar characteristics and purchasing behaviors.</a:t>
            </a:r>
          </a:p>
          <a:p>
            <a:pPr algn="just"/>
            <a:r>
              <a:rPr lang="en-US" b="1" dirty="0">
                <a:latin typeface="Calibri" panose="020F0502020204030204" pitchFamily="34" charset="0"/>
                <a:ea typeface="Calibri" panose="020F0502020204030204" pitchFamily="34" charset="0"/>
                <a:cs typeface="Calibri" panose="020F0502020204030204" pitchFamily="34" charset="0"/>
              </a:rPr>
              <a:t>Mapping Customers:</a:t>
            </a:r>
            <a:r>
              <a:rPr lang="en-US" dirty="0">
                <a:latin typeface="Calibri" panose="020F0502020204030204" pitchFamily="34" charset="0"/>
                <a:ea typeface="Calibri" panose="020F0502020204030204" pitchFamily="34" charset="0"/>
                <a:cs typeface="Calibri" panose="020F0502020204030204" pitchFamily="34" charset="0"/>
              </a:rPr>
              <a:t> We took all the complicated information about our customers—like how much they earn, their age, and what they buy—and turned it into a </a:t>
            </a:r>
            <a:r>
              <a:rPr lang="en-US" b="1" dirty="0">
                <a:latin typeface="Calibri" panose="020F0502020204030204" pitchFamily="34" charset="0"/>
                <a:ea typeface="Calibri" panose="020F0502020204030204" pitchFamily="34" charset="0"/>
                <a:cs typeface="Calibri" panose="020F0502020204030204" pitchFamily="34" charset="0"/>
              </a:rPr>
              <a:t>simple map of dots</a:t>
            </a:r>
            <a:r>
              <a:rPr lang="en-US" dirty="0">
                <a:latin typeface="Calibri" panose="020F0502020204030204" pitchFamily="34" charset="0"/>
                <a:ea typeface="Calibri" panose="020F0502020204030204" pitchFamily="34" charset="0"/>
                <a:cs typeface="Calibri" panose="020F0502020204030204" pitchFamily="34" charset="0"/>
              </a:rPr>
              <a:t>.</a:t>
            </a:r>
          </a:p>
          <a:p>
            <a:pPr algn="just"/>
            <a:r>
              <a:rPr lang="en-US" b="1" dirty="0">
                <a:latin typeface="Calibri" panose="020F0502020204030204" pitchFamily="34" charset="0"/>
                <a:ea typeface="Calibri" panose="020F0502020204030204" pitchFamily="34" charset="0"/>
                <a:cs typeface="Calibri" panose="020F0502020204030204" pitchFamily="34" charset="0"/>
              </a:rPr>
              <a:t>Seeing the "Shape":</a:t>
            </a:r>
            <a:r>
              <a:rPr lang="en-US" dirty="0">
                <a:latin typeface="Calibri" panose="020F0502020204030204" pitchFamily="34" charset="0"/>
                <a:ea typeface="Calibri" panose="020F0502020204030204" pitchFamily="34" charset="0"/>
                <a:cs typeface="Calibri" panose="020F0502020204030204" pitchFamily="34" charset="0"/>
              </a:rPr>
              <a:t> Each dot is a customer. You can see that some dots are naturally close together. The computer uses these "neighborhoods" to figure out who belongs in the same group.</a:t>
            </a:r>
          </a:p>
          <a:p>
            <a:pPr algn="just"/>
            <a:r>
              <a:rPr lang="en-US" b="1" dirty="0">
                <a:latin typeface="Calibri" panose="020F0502020204030204" pitchFamily="34" charset="0"/>
                <a:ea typeface="Calibri" panose="020F0502020204030204" pitchFamily="34" charset="0"/>
                <a:cs typeface="Calibri" panose="020F0502020204030204" pitchFamily="34" charset="0"/>
              </a:rPr>
              <a:t>The Starting Point:</a:t>
            </a:r>
            <a:r>
              <a:rPr lang="en-US" dirty="0">
                <a:latin typeface="Calibri" panose="020F0502020204030204" pitchFamily="34" charset="0"/>
                <a:ea typeface="Calibri" panose="020F0502020204030204" pitchFamily="34" charset="0"/>
                <a:cs typeface="Calibri" panose="020F0502020204030204" pitchFamily="34" charset="0"/>
              </a:rPr>
              <a:t> This is the "blank canvas." It shows that our data isn't just a mess; it has a specific shape that the machine can use to create our final categories.</a:t>
            </a:r>
          </a:p>
          <a:p>
            <a:pPr algn="just"/>
            <a:endParaRPr lang="en-US" dirty="0">
              <a:latin typeface="Calibri "/>
            </a:endParaRPr>
          </a:p>
          <a:p>
            <a:pPr marL="0" indent="0" algn="just">
              <a:buNone/>
            </a:pPr>
            <a:endParaRPr lang="en-IN" dirty="0">
              <a:latin typeface="Calibri "/>
            </a:endParaRPr>
          </a:p>
        </p:txBody>
      </p:sp>
      <p:pic>
        <p:nvPicPr>
          <p:cNvPr id="5" name="Picture 4">
            <a:extLst>
              <a:ext uri="{FF2B5EF4-FFF2-40B4-BE49-F238E27FC236}">
                <a16:creationId xmlns:a16="http://schemas.microsoft.com/office/drawing/2014/main" id="{A44D7481-1ED8-B022-E75A-973E8B12A2D1}"/>
              </a:ext>
            </a:extLst>
          </p:cNvPr>
          <p:cNvPicPr>
            <a:picLocks noChangeAspect="1"/>
          </p:cNvPicPr>
          <p:nvPr/>
        </p:nvPicPr>
        <p:blipFill>
          <a:blip r:embed="rId3"/>
          <a:stretch>
            <a:fillRect/>
          </a:stretch>
        </p:blipFill>
        <p:spPr>
          <a:xfrm>
            <a:off x="722669" y="2426314"/>
            <a:ext cx="4468762" cy="4210459"/>
          </a:xfrm>
          <a:prstGeom prst="rect">
            <a:avLst/>
          </a:prstGeom>
        </p:spPr>
      </p:pic>
    </p:spTree>
    <p:extLst>
      <p:ext uri="{BB962C8B-B14F-4D97-AF65-F5344CB8AC3E}">
        <p14:creationId xmlns:p14="http://schemas.microsoft.com/office/powerpoint/2010/main" val="3612233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9287-4098-890E-118A-BC52C936EFBE}"/>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Clustering Algorithm Used</a:t>
            </a:r>
          </a:p>
        </p:txBody>
      </p:sp>
      <p:sp>
        <p:nvSpPr>
          <p:cNvPr id="3" name="Content Placeholder 2">
            <a:extLst>
              <a:ext uri="{FF2B5EF4-FFF2-40B4-BE49-F238E27FC236}">
                <a16:creationId xmlns:a16="http://schemas.microsoft.com/office/drawing/2014/main" id="{F35C6BF8-ED60-A014-554E-187602650980}"/>
              </a:ext>
            </a:extLst>
          </p:cNvPr>
          <p:cNvSpPr>
            <a:spLocks noGrp="1"/>
          </p:cNvSpPr>
          <p:nvPr>
            <p:ph idx="1"/>
          </p:nvPr>
        </p:nvSpPr>
        <p:spPr>
          <a:xfrm>
            <a:off x="513347" y="2667787"/>
            <a:ext cx="5194280" cy="3983736"/>
          </a:xfrm>
        </p:spPr>
        <p:txBody>
          <a:bodyPr>
            <a:normAutofit fontScale="85000" lnSpcReduction="10000"/>
          </a:bodyPr>
          <a:lstStyle/>
          <a:p>
            <a:r>
              <a:rPr lang="en-US" dirty="0">
                <a:latin typeface="Calibri" panose="020F0502020204030204" pitchFamily="34" charset="0"/>
                <a:ea typeface="Calibri" panose="020F0502020204030204" pitchFamily="34" charset="0"/>
                <a:cs typeface="Calibri" panose="020F0502020204030204" pitchFamily="34" charset="0"/>
              </a:rPr>
              <a:t>In this project, we used the K-Means clustering algorithm.</a:t>
            </a:r>
          </a:p>
          <a:p>
            <a:r>
              <a:rPr lang="en-US" dirty="0">
                <a:latin typeface="Calibri" panose="020F0502020204030204" pitchFamily="34" charset="0"/>
                <a:ea typeface="Calibri" panose="020F0502020204030204" pitchFamily="34" charset="0"/>
                <a:cs typeface="Calibri" panose="020F0502020204030204" pitchFamily="34" charset="0"/>
              </a:rPr>
              <a:t>K-Means works by dividing customers into groups based on similarities in their data.</a:t>
            </a:r>
          </a:p>
          <a:p>
            <a:r>
              <a:rPr lang="en-US" dirty="0">
                <a:latin typeface="Calibri" panose="020F0502020204030204" pitchFamily="34" charset="0"/>
                <a:ea typeface="Calibri" panose="020F0502020204030204" pitchFamily="34" charset="0"/>
                <a:cs typeface="Calibri" panose="020F0502020204030204" pitchFamily="34" charset="0"/>
              </a:rPr>
              <a:t>Each group represents a segment of customers with similar behavior.</a:t>
            </a:r>
          </a:p>
          <a:p>
            <a:r>
              <a:rPr lang="en-US" b="1" dirty="0">
                <a:latin typeface="Calibri" panose="020F0502020204030204" pitchFamily="34" charset="0"/>
                <a:ea typeface="Calibri" panose="020F0502020204030204" pitchFamily="34" charset="0"/>
                <a:cs typeface="Calibri" panose="020F0502020204030204" pitchFamily="34" charset="0"/>
              </a:rPr>
              <a:t>The "Sorting" Machine:</a:t>
            </a:r>
            <a:r>
              <a:rPr lang="en-US" dirty="0">
                <a:latin typeface="Calibri" panose="020F0502020204030204" pitchFamily="34" charset="0"/>
                <a:ea typeface="Calibri" panose="020F0502020204030204" pitchFamily="34" charset="0"/>
                <a:cs typeface="Calibri" panose="020F0502020204030204" pitchFamily="34" charset="0"/>
              </a:rPr>
              <a:t> K-Means acts like a smart sorting machine. It looks at all our customers and automatically organizes them into </a:t>
            </a:r>
            <a:r>
              <a:rPr lang="en-US" b="1" dirty="0">
                <a:latin typeface="Calibri" panose="020F0502020204030204" pitchFamily="34" charset="0"/>
                <a:ea typeface="Calibri" panose="020F0502020204030204" pitchFamily="34" charset="0"/>
                <a:cs typeface="Calibri" panose="020F0502020204030204" pitchFamily="34" charset="0"/>
              </a:rPr>
              <a:t>four distinct colors</a:t>
            </a:r>
            <a:r>
              <a:rPr lang="en-US" dirty="0">
                <a:latin typeface="Calibri" panose="020F0502020204030204" pitchFamily="34" charset="0"/>
                <a:ea typeface="Calibri" panose="020F0502020204030204" pitchFamily="34" charset="0"/>
                <a:cs typeface="Calibri" panose="020F0502020204030204" pitchFamily="34" charset="0"/>
              </a:rPr>
              <a:t>.</a:t>
            </a:r>
          </a:p>
          <a:p>
            <a:r>
              <a:rPr lang="en-US" b="1" dirty="0">
                <a:latin typeface="Calibri" panose="020F0502020204030204" pitchFamily="34" charset="0"/>
                <a:ea typeface="Calibri" panose="020F0502020204030204" pitchFamily="34" charset="0"/>
                <a:cs typeface="Calibri" panose="020F0502020204030204" pitchFamily="34" charset="0"/>
              </a:rPr>
              <a:t>Finding the Best Fit:</a:t>
            </a:r>
            <a:r>
              <a:rPr lang="en-US" dirty="0">
                <a:latin typeface="Calibri" panose="020F0502020204030204" pitchFamily="34" charset="0"/>
                <a:ea typeface="Calibri" panose="020F0502020204030204" pitchFamily="34" charset="0"/>
                <a:cs typeface="Calibri" panose="020F0502020204030204" pitchFamily="34" charset="0"/>
              </a:rPr>
              <a:t> The algorithm makes sure that every customer (dot) is placed in the group that they are </a:t>
            </a:r>
            <a:r>
              <a:rPr lang="en-US" b="1" dirty="0">
                <a:latin typeface="Calibri" panose="020F0502020204030204" pitchFamily="34" charset="0"/>
                <a:ea typeface="Calibri" panose="020F0502020204030204" pitchFamily="34" charset="0"/>
                <a:cs typeface="Calibri" panose="020F0502020204030204" pitchFamily="34" charset="0"/>
              </a:rPr>
              <a:t>most similar</a:t>
            </a:r>
            <a:r>
              <a:rPr lang="en-US" dirty="0">
                <a:latin typeface="Calibri" panose="020F0502020204030204" pitchFamily="34" charset="0"/>
                <a:ea typeface="Calibri" panose="020F0502020204030204" pitchFamily="34" charset="0"/>
                <a:cs typeface="Calibri" panose="020F0502020204030204" pitchFamily="34" charset="0"/>
              </a:rPr>
              <a:t> to.</a:t>
            </a:r>
          </a:p>
          <a:p>
            <a:r>
              <a:rPr lang="en-US" b="1" dirty="0">
                <a:latin typeface="Calibri" panose="020F0502020204030204" pitchFamily="34" charset="0"/>
                <a:ea typeface="Calibri" panose="020F0502020204030204" pitchFamily="34" charset="0"/>
                <a:cs typeface="Calibri" panose="020F0502020204030204" pitchFamily="34" charset="0"/>
              </a:rPr>
              <a:t>Creating Clear Boundaries:</a:t>
            </a:r>
            <a:r>
              <a:rPr lang="en-US" dirty="0">
                <a:latin typeface="Calibri" panose="020F0502020204030204" pitchFamily="34" charset="0"/>
                <a:ea typeface="Calibri" panose="020F0502020204030204" pitchFamily="34" charset="0"/>
                <a:cs typeface="Calibri" panose="020F0502020204030204" pitchFamily="34" charset="0"/>
              </a:rPr>
              <a:t> You can see how the colors don't overlap much. This means the algorithm was very successful at finding clear "neighborhoods" of customer behavior.</a:t>
            </a:r>
          </a:p>
          <a:p>
            <a:endParaRPr lang="en-US" dirty="0">
              <a:latin typeface="Calibri "/>
            </a:endParaRPr>
          </a:p>
          <a:p>
            <a:endParaRPr lang="en-IN" dirty="0"/>
          </a:p>
        </p:txBody>
      </p:sp>
      <p:pic>
        <p:nvPicPr>
          <p:cNvPr id="5" name="Picture 4">
            <a:extLst>
              <a:ext uri="{FF2B5EF4-FFF2-40B4-BE49-F238E27FC236}">
                <a16:creationId xmlns:a16="http://schemas.microsoft.com/office/drawing/2014/main" id="{77847FDC-F995-1DF9-5B49-3051B5AF9DDD}"/>
              </a:ext>
            </a:extLst>
          </p:cNvPr>
          <p:cNvPicPr>
            <a:picLocks noChangeAspect="1"/>
          </p:cNvPicPr>
          <p:nvPr/>
        </p:nvPicPr>
        <p:blipFill>
          <a:blip r:embed="rId3"/>
          <a:stretch>
            <a:fillRect/>
          </a:stretch>
        </p:blipFill>
        <p:spPr>
          <a:xfrm>
            <a:off x="6272980" y="2344993"/>
            <a:ext cx="5708404" cy="4306529"/>
          </a:xfrm>
          <a:prstGeom prst="rect">
            <a:avLst/>
          </a:prstGeom>
        </p:spPr>
      </p:pic>
    </p:spTree>
    <p:extLst>
      <p:ext uri="{BB962C8B-B14F-4D97-AF65-F5344CB8AC3E}">
        <p14:creationId xmlns:p14="http://schemas.microsoft.com/office/powerpoint/2010/main" val="3488495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662BF-432E-7A35-38BD-9819A828D4DD}"/>
              </a:ext>
            </a:extLst>
          </p:cNvPr>
          <p:cNvSpPr>
            <a:spLocks noGrp="1"/>
          </p:cNvSpPr>
          <p:nvPr>
            <p:ph type="title"/>
          </p:nvPr>
        </p:nvSpPr>
        <p:spPr/>
        <p:txBody>
          <a:bodyPr/>
          <a:lstStyle/>
          <a:p>
            <a:r>
              <a:rPr lang="en-IN" b="1" dirty="0">
                <a:latin typeface="Calibri bold" panose="020F0702030404030204" pitchFamily="34" charset="0"/>
                <a:ea typeface="Calibri bold" panose="020F0702030404030204" pitchFamily="34" charset="0"/>
                <a:cs typeface="Calibri bold" panose="020F0702030404030204" pitchFamily="34" charset="0"/>
              </a:rPr>
              <a:t>Feature Selection &amp; Cluster Optimization</a:t>
            </a:r>
          </a:p>
        </p:txBody>
      </p:sp>
      <p:sp>
        <p:nvSpPr>
          <p:cNvPr id="3" name="Content Placeholder 2">
            <a:extLst>
              <a:ext uri="{FF2B5EF4-FFF2-40B4-BE49-F238E27FC236}">
                <a16:creationId xmlns:a16="http://schemas.microsoft.com/office/drawing/2014/main" id="{AFBCCD36-94CB-0176-459F-5D0D367A5AA5}"/>
              </a:ext>
            </a:extLst>
          </p:cNvPr>
          <p:cNvSpPr>
            <a:spLocks noGrp="1"/>
          </p:cNvSpPr>
          <p:nvPr>
            <p:ph idx="1"/>
          </p:nvPr>
        </p:nvSpPr>
        <p:spPr>
          <a:xfrm>
            <a:off x="545433" y="2603499"/>
            <a:ext cx="5353922" cy="3767803"/>
          </a:xfrm>
        </p:spPr>
        <p:txBody>
          <a:bodyPr>
            <a:normAutofit lnSpcReduction="10000"/>
          </a:bodyPr>
          <a:lstStyle/>
          <a:p>
            <a:r>
              <a:rPr lang="en-US" b="1" dirty="0">
                <a:latin typeface="Calibri" panose="020F0502020204030204" pitchFamily="34" charset="0"/>
                <a:ea typeface="Calibri" panose="020F0502020204030204" pitchFamily="34" charset="0"/>
                <a:cs typeface="Calibri" panose="020F0502020204030204" pitchFamily="34" charset="0"/>
              </a:rPr>
              <a:t>Optimal K-Selection:</a:t>
            </a:r>
            <a:r>
              <a:rPr lang="en-US" dirty="0">
                <a:latin typeface="Calibri" panose="020F0502020204030204" pitchFamily="34" charset="0"/>
                <a:ea typeface="Calibri" panose="020F0502020204030204" pitchFamily="34" charset="0"/>
                <a:cs typeface="Calibri" panose="020F0502020204030204" pitchFamily="34" charset="0"/>
              </a:rPr>
              <a:t> We utilized the </a:t>
            </a:r>
            <a:r>
              <a:rPr lang="en-US" b="1" dirty="0">
                <a:latin typeface="Calibri" panose="020F0502020204030204" pitchFamily="34" charset="0"/>
                <a:ea typeface="Calibri" panose="020F0502020204030204" pitchFamily="34" charset="0"/>
                <a:cs typeface="Calibri" panose="020F0502020204030204" pitchFamily="34" charset="0"/>
              </a:rPr>
              <a:t>Elbow Method</a:t>
            </a:r>
            <a:r>
              <a:rPr lang="en-US" dirty="0">
                <a:latin typeface="Calibri" panose="020F0502020204030204" pitchFamily="34" charset="0"/>
                <a:ea typeface="Calibri" panose="020F0502020204030204" pitchFamily="34" charset="0"/>
                <a:cs typeface="Calibri" panose="020F0502020204030204" pitchFamily="34" charset="0"/>
              </a:rPr>
              <a:t> to determine the ideal number of clusters for our model.</a:t>
            </a:r>
          </a:p>
          <a:p>
            <a:r>
              <a:rPr lang="en-US" b="1" dirty="0">
                <a:latin typeface="Calibri" panose="020F0502020204030204" pitchFamily="34" charset="0"/>
                <a:ea typeface="Calibri" panose="020F0502020204030204" pitchFamily="34" charset="0"/>
                <a:cs typeface="Calibri" panose="020F0502020204030204" pitchFamily="34" charset="0"/>
              </a:rPr>
              <a:t>Within-Cluster Sum of Squares (WCSS):</a:t>
            </a:r>
            <a:r>
              <a:rPr lang="en-US" dirty="0">
                <a:latin typeface="Calibri" panose="020F0502020204030204" pitchFamily="34" charset="0"/>
                <a:ea typeface="Calibri" panose="020F0502020204030204" pitchFamily="34" charset="0"/>
                <a:cs typeface="Calibri" panose="020F0502020204030204" pitchFamily="34" charset="0"/>
              </a:rPr>
              <a:t> The graph shows how inertia decreases as the number of clusters increases.</a:t>
            </a:r>
          </a:p>
          <a:p>
            <a:r>
              <a:rPr lang="en-US" b="1" dirty="0">
                <a:latin typeface="Calibri" panose="020F0502020204030204" pitchFamily="34" charset="0"/>
                <a:ea typeface="Calibri" panose="020F0502020204030204" pitchFamily="34" charset="0"/>
                <a:cs typeface="Calibri" panose="020F0502020204030204" pitchFamily="34" charset="0"/>
              </a:rPr>
              <a:t>The "Elbow" Point:</a:t>
            </a:r>
            <a:r>
              <a:rPr lang="en-US" dirty="0">
                <a:latin typeface="Calibri" panose="020F0502020204030204" pitchFamily="34" charset="0"/>
                <a:ea typeface="Calibri" panose="020F0502020204030204" pitchFamily="34" charset="0"/>
                <a:cs typeface="Calibri" panose="020F0502020204030204" pitchFamily="34" charset="0"/>
              </a:rPr>
              <a:t> A clear bend is observed at </a:t>
            </a:r>
            <a:r>
              <a:rPr lang="en-US" b="1" dirty="0">
                <a:latin typeface="Calibri" panose="020F0502020204030204" pitchFamily="34" charset="0"/>
                <a:ea typeface="Calibri" panose="020F0502020204030204" pitchFamily="34" charset="0"/>
                <a:cs typeface="Calibri" panose="020F0502020204030204" pitchFamily="34" charset="0"/>
              </a:rPr>
              <a:t>k=4</a:t>
            </a:r>
            <a:r>
              <a:rPr lang="en-US" dirty="0">
                <a:latin typeface="Calibri" panose="020F0502020204030204" pitchFamily="34" charset="0"/>
                <a:ea typeface="Calibri" panose="020F0502020204030204" pitchFamily="34" charset="0"/>
                <a:cs typeface="Calibri" panose="020F0502020204030204" pitchFamily="34" charset="0"/>
              </a:rPr>
              <a:t>, indicating the point where adding more clusters no longer significantly improves the model's performance.</a:t>
            </a:r>
          </a:p>
          <a:p>
            <a:r>
              <a:rPr lang="en-US" b="1" dirty="0">
                <a:latin typeface="Calibri" panose="020F0502020204030204" pitchFamily="34" charset="0"/>
                <a:ea typeface="Calibri" panose="020F0502020204030204" pitchFamily="34" charset="0"/>
                <a:cs typeface="Calibri" panose="020F0502020204030204" pitchFamily="34" charset="0"/>
              </a:rPr>
              <a:t>Balanced Complexity:</a:t>
            </a:r>
            <a:r>
              <a:rPr lang="en-US" dirty="0">
                <a:latin typeface="Calibri" panose="020F0502020204030204" pitchFamily="34" charset="0"/>
                <a:ea typeface="Calibri" panose="020F0502020204030204" pitchFamily="34" charset="0"/>
                <a:cs typeface="Calibri" panose="020F0502020204030204" pitchFamily="34" charset="0"/>
              </a:rPr>
              <a:t> This selection ensures our segments are distinct enough to be actionable without over-complicating the marketing strategy.</a:t>
            </a:r>
          </a:p>
          <a:p>
            <a:endParaRPr lang="en-IN" dirty="0"/>
          </a:p>
        </p:txBody>
      </p:sp>
      <p:pic>
        <p:nvPicPr>
          <p:cNvPr id="5" name="Picture 4">
            <a:extLst>
              <a:ext uri="{FF2B5EF4-FFF2-40B4-BE49-F238E27FC236}">
                <a16:creationId xmlns:a16="http://schemas.microsoft.com/office/drawing/2014/main" id="{BCAC63C9-A828-22EA-9E7B-03913D35A743}"/>
              </a:ext>
            </a:extLst>
          </p:cNvPr>
          <p:cNvPicPr>
            <a:picLocks noChangeAspect="1"/>
          </p:cNvPicPr>
          <p:nvPr/>
        </p:nvPicPr>
        <p:blipFill>
          <a:blip r:embed="rId3"/>
          <a:stretch>
            <a:fillRect/>
          </a:stretch>
        </p:blipFill>
        <p:spPr>
          <a:xfrm>
            <a:off x="5899355" y="2271253"/>
            <a:ext cx="6076336" cy="4409768"/>
          </a:xfrm>
          <a:prstGeom prst="rect">
            <a:avLst/>
          </a:prstGeom>
        </p:spPr>
      </p:pic>
    </p:spTree>
    <p:extLst>
      <p:ext uri="{BB962C8B-B14F-4D97-AF65-F5344CB8AC3E}">
        <p14:creationId xmlns:p14="http://schemas.microsoft.com/office/powerpoint/2010/main" val="3956260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78E07-16A0-012C-EDC2-BFCC12EA1F06}"/>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 Customer Segments</a:t>
            </a:r>
          </a:p>
        </p:txBody>
      </p:sp>
      <p:sp>
        <p:nvSpPr>
          <p:cNvPr id="3" name="Content Placeholder 2">
            <a:extLst>
              <a:ext uri="{FF2B5EF4-FFF2-40B4-BE49-F238E27FC236}">
                <a16:creationId xmlns:a16="http://schemas.microsoft.com/office/drawing/2014/main" id="{0B8FFB65-7309-AD05-2F9C-941E97DE6499}"/>
              </a:ext>
            </a:extLst>
          </p:cNvPr>
          <p:cNvSpPr>
            <a:spLocks noGrp="1"/>
          </p:cNvSpPr>
          <p:nvPr>
            <p:ph idx="1"/>
          </p:nvPr>
        </p:nvSpPr>
        <p:spPr>
          <a:xfrm>
            <a:off x="5840361" y="2521973"/>
            <a:ext cx="5870376" cy="4129549"/>
          </a:xfrm>
        </p:spPr>
        <p:txBody>
          <a:bodyPr>
            <a:noAutofit/>
          </a:bodyPr>
          <a:lstStyle/>
          <a:p>
            <a:pPr algn="just"/>
            <a:r>
              <a:rPr lang="en-US" sz="1600" dirty="0">
                <a:latin typeface="Calibri "/>
              </a:rPr>
              <a:t>Cluster Profiles:</a:t>
            </a:r>
          </a:p>
          <a:p>
            <a:pPr algn="just"/>
            <a:r>
              <a:rPr lang="en-US" sz="1600" dirty="0">
                <a:latin typeface="Calibri "/>
              </a:rPr>
              <a:t>Cluster 0 (Purple): Budget Conscious. Lower income and lower total spending. This group likely focuses on essential purchases or highly discounted items.</a:t>
            </a:r>
          </a:p>
          <a:p>
            <a:pPr algn="just"/>
            <a:r>
              <a:rPr lang="en-US" sz="1600" dirty="0">
                <a:latin typeface="Calibri "/>
              </a:rPr>
              <a:t>Cluster 1 (Blue): Conservative Spenders. Mid-to-low income with low spending. Despite having more income than Cluster 0, their spending remains low, suggesting they are less engaged with the brand.</a:t>
            </a:r>
          </a:p>
          <a:p>
            <a:pPr algn="just"/>
            <a:r>
              <a:rPr lang="en-US" sz="1600" dirty="0">
                <a:latin typeface="Calibri "/>
              </a:rPr>
              <a:t>Cluster 2 (Green): Platinum Customers. High income and high spending. This is the most valuable segment. They show a strong correlation between their wealth and their loyalty to the brand.</a:t>
            </a:r>
          </a:p>
          <a:p>
            <a:pPr algn="just"/>
            <a:r>
              <a:rPr lang="en-US" sz="1600" dirty="0">
                <a:latin typeface="Calibri "/>
              </a:rPr>
              <a:t>Cluster 3 (Yellow): High-Potential Segment. Mid-to-high income with moderate spending. These customers have the financial capacity to spend more but currently sit in the middle tier.</a:t>
            </a:r>
            <a:endParaRPr lang="en-IN" sz="1600" dirty="0">
              <a:latin typeface="Calibri "/>
            </a:endParaRPr>
          </a:p>
        </p:txBody>
      </p:sp>
      <p:pic>
        <p:nvPicPr>
          <p:cNvPr id="5" name="Picture 4">
            <a:extLst>
              <a:ext uri="{FF2B5EF4-FFF2-40B4-BE49-F238E27FC236}">
                <a16:creationId xmlns:a16="http://schemas.microsoft.com/office/drawing/2014/main" id="{66FCE789-D15A-BF1D-15B3-4C48371EE05E}"/>
              </a:ext>
            </a:extLst>
          </p:cNvPr>
          <p:cNvPicPr>
            <a:picLocks noChangeAspect="1"/>
          </p:cNvPicPr>
          <p:nvPr/>
        </p:nvPicPr>
        <p:blipFill>
          <a:blip r:embed="rId3"/>
          <a:stretch>
            <a:fillRect/>
          </a:stretch>
        </p:blipFill>
        <p:spPr>
          <a:xfrm>
            <a:off x="324466" y="2330245"/>
            <a:ext cx="5397908" cy="4321278"/>
          </a:xfrm>
          <a:prstGeom prst="rect">
            <a:avLst/>
          </a:prstGeom>
        </p:spPr>
      </p:pic>
    </p:spTree>
    <p:extLst>
      <p:ext uri="{BB962C8B-B14F-4D97-AF65-F5344CB8AC3E}">
        <p14:creationId xmlns:p14="http://schemas.microsoft.com/office/powerpoint/2010/main" val="2132387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5D786-6119-A8B9-F767-93AF0AD610D3}"/>
              </a:ext>
            </a:extLst>
          </p:cNvPr>
          <p:cNvSpPr>
            <a:spLocks noGrp="1"/>
          </p:cNvSpPr>
          <p:nvPr>
            <p:ph type="title"/>
          </p:nvPr>
        </p:nvSpPr>
        <p:spPr/>
        <p:txBody>
          <a:bodyPr/>
          <a:lstStyle/>
          <a:p>
            <a:r>
              <a:rPr lang="en-US" dirty="0">
                <a:latin typeface="Calibri bold" panose="020F0702030404030204" pitchFamily="34" charset="0"/>
                <a:ea typeface="Calibri bold" panose="020F0702030404030204" pitchFamily="34" charset="0"/>
                <a:cs typeface="Calibri bold" panose="020F0702030404030204" pitchFamily="34" charset="0"/>
              </a:rPr>
              <a:t>Why the Model is Reliable</a:t>
            </a: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CFAE2492-D22B-F307-2FD2-35C9307CDA9C}"/>
              </a:ext>
            </a:extLst>
          </p:cNvPr>
          <p:cNvSpPr>
            <a:spLocks noGrp="1"/>
          </p:cNvSpPr>
          <p:nvPr>
            <p:ph idx="1"/>
          </p:nvPr>
        </p:nvSpPr>
        <p:spPr>
          <a:xfrm>
            <a:off x="6096000" y="2603499"/>
            <a:ext cx="5746955" cy="4048023"/>
          </a:xfrm>
        </p:spPr>
        <p:txBody>
          <a:bodyPr>
            <a:normAutofit fontScale="92500" lnSpcReduction="10000"/>
          </a:bodyPr>
          <a:lstStyle/>
          <a:p>
            <a:r>
              <a:rPr lang="en-US" dirty="0">
                <a:latin typeface="Calibri "/>
              </a:rPr>
              <a:t>The final model successfully divided customers into different segments based on their behavior and spending patterns.</a:t>
            </a:r>
          </a:p>
          <a:p>
            <a:r>
              <a:rPr lang="en-US" b="1" dirty="0">
                <a:latin typeface="Calibri" panose="020F0502020204030204" pitchFamily="34" charset="0"/>
                <a:ea typeface="Calibri" panose="020F0502020204030204" pitchFamily="34" charset="0"/>
                <a:cs typeface="Calibri" panose="020F0502020204030204" pitchFamily="34" charset="0"/>
              </a:rPr>
              <a:t>We found 4 distinct types of customers.</a:t>
            </a:r>
            <a:r>
              <a:rPr lang="en-US" dirty="0">
                <a:latin typeface="Calibri" panose="020F0502020204030204" pitchFamily="34" charset="0"/>
                <a:ea typeface="Calibri" panose="020F0502020204030204" pitchFamily="34" charset="0"/>
                <a:cs typeface="Calibri" panose="020F0502020204030204" pitchFamily="34" charset="0"/>
              </a:rPr>
              <a:t> By grouping people with similar income and spending habits, we no longer see a "mess" of data—we see clear targets.</a:t>
            </a:r>
          </a:p>
          <a:p>
            <a:r>
              <a:rPr lang="en-US" b="1" dirty="0">
                <a:latin typeface="Calibri" panose="020F0502020204030204" pitchFamily="34" charset="0"/>
                <a:ea typeface="Calibri" panose="020F0502020204030204" pitchFamily="34" charset="0"/>
                <a:cs typeface="Calibri" panose="020F0502020204030204" pitchFamily="34" charset="0"/>
              </a:rPr>
              <a:t>The "Green" Group:</a:t>
            </a:r>
            <a:r>
              <a:rPr lang="en-US" dirty="0">
                <a:latin typeface="Calibri" panose="020F0502020204030204" pitchFamily="34" charset="0"/>
                <a:ea typeface="Calibri" panose="020F0502020204030204" pitchFamily="34" charset="0"/>
                <a:cs typeface="Calibri" panose="020F0502020204030204" pitchFamily="34" charset="0"/>
              </a:rPr>
              <a:t> These are our </a:t>
            </a:r>
            <a:r>
              <a:rPr lang="en-US" b="1" dirty="0">
                <a:latin typeface="Calibri" panose="020F0502020204030204" pitchFamily="34" charset="0"/>
                <a:ea typeface="Calibri" panose="020F0502020204030204" pitchFamily="34" charset="0"/>
                <a:cs typeface="Calibri" panose="020F0502020204030204" pitchFamily="34" charset="0"/>
              </a:rPr>
              <a:t>Best Customers</a:t>
            </a:r>
            <a:r>
              <a:rPr lang="en-US" dirty="0">
                <a:latin typeface="Calibri" panose="020F0502020204030204" pitchFamily="34" charset="0"/>
                <a:ea typeface="Calibri" panose="020F0502020204030204" pitchFamily="34" charset="0"/>
                <a:cs typeface="Calibri" panose="020F0502020204030204" pitchFamily="34" charset="0"/>
              </a:rPr>
              <a:t>. They have high income and spend the most. We should focus on keeping them happy.</a:t>
            </a:r>
          </a:p>
          <a:p>
            <a:r>
              <a:rPr lang="en-US" b="1" dirty="0">
                <a:latin typeface="Calibri" panose="020F0502020204030204" pitchFamily="34" charset="0"/>
                <a:ea typeface="Calibri" panose="020F0502020204030204" pitchFamily="34" charset="0"/>
                <a:cs typeface="Calibri" panose="020F0502020204030204" pitchFamily="34" charset="0"/>
              </a:rPr>
              <a:t>The "Yellow" Group:</a:t>
            </a:r>
            <a:r>
              <a:rPr lang="en-US" dirty="0">
                <a:latin typeface="Calibri" panose="020F0502020204030204" pitchFamily="34" charset="0"/>
                <a:ea typeface="Calibri" panose="020F0502020204030204" pitchFamily="34" charset="0"/>
                <a:cs typeface="Calibri" panose="020F0502020204030204" pitchFamily="34" charset="0"/>
              </a:rPr>
              <a:t> These are </a:t>
            </a:r>
            <a:r>
              <a:rPr lang="en-US" b="1" dirty="0">
                <a:latin typeface="Calibri" panose="020F0502020204030204" pitchFamily="34" charset="0"/>
                <a:ea typeface="Calibri" panose="020F0502020204030204" pitchFamily="34" charset="0"/>
                <a:cs typeface="Calibri" panose="020F0502020204030204" pitchFamily="34" charset="0"/>
              </a:rPr>
              <a:t>Potential Stars</a:t>
            </a:r>
            <a:r>
              <a:rPr lang="en-US" dirty="0">
                <a:latin typeface="Calibri" panose="020F0502020204030204" pitchFamily="34" charset="0"/>
                <a:ea typeface="Calibri" panose="020F0502020204030204" pitchFamily="34" charset="0"/>
                <a:cs typeface="Calibri" panose="020F0502020204030204" pitchFamily="34" charset="0"/>
              </a:rPr>
              <a:t>. They have good income but aren't spending to their full potential yet.</a:t>
            </a:r>
          </a:p>
          <a:p>
            <a:r>
              <a:rPr lang="en-US" b="1" dirty="0">
                <a:latin typeface="Calibri" panose="020F0502020204030204" pitchFamily="34" charset="0"/>
                <a:ea typeface="Calibri" panose="020F0502020204030204" pitchFamily="34" charset="0"/>
                <a:cs typeface="Calibri" panose="020F0502020204030204" pitchFamily="34" charset="0"/>
              </a:rPr>
              <a:t>The "Blue &amp; Purple" Groups:</a:t>
            </a:r>
            <a:r>
              <a:rPr lang="en-US" dirty="0">
                <a:latin typeface="Calibri" panose="020F0502020204030204" pitchFamily="34" charset="0"/>
                <a:ea typeface="Calibri" panose="020F0502020204030204" pitchFamily="34" charset="0"/>
                <a:cs typeface="Calibri" panose="020F0502020204030204" pitchFamily="34" charset="0"/>
              </a:rPr>
              <a:t> These are </a:t>
            </a:r>
            <a:r>
              <a:rPr lang="en-US" b="1" dirty="0">
                <a:latin typeface="Calibri" panose="020F0502020204030204" pitchFamily="34" charset="0"/>
                <a:ea typeface="Calibri" panose="020F0502020204030204" pitchFamily="34" charset="0"/>
                <a:cs typeface="Calibri" panose="020F0502020204030204" pitchFamily="34" charset="0"/>
              </a:rPr>
              <a:t>Budget-Minded</a:t>
            </a:r>
            <a:r>
              <a:rPr lang="en-US" dirty="0">
                <a:latin typeface="Calibri" panose="020F0502020204030204" pitchFamily="34" charset="0"/>
                <a:ea typeface="Calibri" panose="020F0502020204030204" pitchFamily="34" charset="0"/>
                <a:cs typeface="Calibri" panose="020F0502020204030204" pitchFamily="34" charset="0"/>
              </a:rPr>
              <a:t>. They spend less and might only buy when there is a sale or a special deal.</a:t>
            </a:r>
          </a:p>
          <a:p>
            <a:endParaRPr lang="en-IN" dirty="0">
              <a:latin typeface="Calibri "/>
            </a:endParaRPr>
          </a:p>
        </p:txBody>
      </p:sp>
      <p:pic>
        <p:nvPicPr>
          <p:cNvPr id="5" name="Picture 4">
            <a:extLst>
              <a:ext uri="{FF2B5EF4-FFF2-40B4-BE49-F238E27FC236}">
                <a16:creationId xmlns:a16="http://schemas.microsoft.com/office/drawing/2014/main" id="{F3A51C1E-D2C1-6056-3247-CEE99D76344A}"/>
              </a:ext>
            </a:extLst>
          </p:cNvPr>
          <p:cNvPicPr>
            <a:picLocks noChangeAspect="1"/>
          </p:cNvPicPr>
          <p:nvPr/>
        </p:nvPicPr>
        <p:blipFill>
          <a:blip r:embed="rId3"/>
          <a:stretch>
            <a:fillRect/>
          </a:stretch>
        </p:blipFill>
        <p:spPr>
          <a:xfrm>
            <a:off x="131183" y="2263982"/>
            <a:ext cx="5964817" cy="4557182"/>
          </a:xfrm>
          <a:prstGeom prst="rect">
            <a:avLst/>
          </a:prstGeom>
        </p:spPr>
      </p:pic>
    </p:spTree>
    <p:extLst>
      <p:ext uri="{BB962C8B-B14F-4D97-AF65-F5344CB8AC3E}">
        <p14:creationId xmlns:p14="http://schemas.microsoft.com/office/powerpoint/2010/main" val="2371757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B73D-263D-FFE3-B50D-87D46B2685A3}"/>
              </a:ext>
            </a:extLst>
          </p:cNvPr>
          <p:cNvSpPr>
            <a:spLocks noGrp="1"/>
          </p:cNvSpPr>
          <p:nvPr>
            <p:ph type="title"/>
          </p:nvPr>
        </p:nvSpPr>
        <p:spPr>
          <a:xfrm>
            <a:off x="961535" y="1634912"/>
            <a:ext cx="8954832" cy="45719"/>
          </a:xfrm>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Model Evaluation(Checking Our Model)</a:t>
            </a:r>
            <a:br>
              <a:rPr lang="en-IN" dirty="0"/>
            </a:br>
            <a:br>
              <a:rPr lang="en-IN" dirty="0"/>
            </a:br>
            <a:endParaRPr lang="en-IN" dirty="0"/>
          </a:p>
        </p:txBody>
      </p:sp>
      <p:sp>
        <p:nvSpPr>
          <p:cNvPr id="3" name="Content Placeholder 2">
            <a:extLst>
              <a:ext uri="{FF2B5EF4-FFF2-40B4-BE49-F238E27FC236}">
                <a16:creationId xmlns:a16="http://schemas.microsoft.com/office/drawing/2014/main" id="{F19A47EF-05BE-C42F-A002-AF45E530EA4C}"/>
              </a:ext>
            </a:extLst>
          </p:cNvPr>
          <p:cNvSpPr>
            <a:spLocks noGrp="1"/>
          </p:cNvSpPr>
          <p:nvPr>
            <p:ph idx="1"/>
          </p:nvPr>
        </p:nvSpPr>
        <p:spPr>
          <a:xfrm>
            <a:off x="6386052" y="2603499"/>
            <a:ext cx="5469063" cy="4017051"/>
          </a:xfrm>
        </p:spPr>
        <p:txBody>
          <a:bodyPr>
            <a:normAutofit/>
          </a:bodyPr>
          <a:lstStyle/>
          <a:p>
            <a:r>
              <a:rPr lang="en-US" b="1" dirty="0">
                <a:latin typeface="Calibri" panose="020F0502020204030204" pitchFamily="34" charset="0"/>
                <a:ea typeface="Calibri" panose="020F0502020204030204" pitchFamily="34" charset="0"/>
                <a:cs typeface="Calibri" panose="020F0502020204030204" pitchFamily="34" charset="0"/>
              </a:rPr>
              <a:t>How do we know the groups are correct?</a:t>
            </a: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No Mixing:</a:t>
            </a:r>
            <a:r>
              <a:rPr lang="en-US" dirty="0">
                <a:latin typeface="Calibri" panose="020F0502020204030204" pitchFamily="34" charset="0"/>
                <a:ea typeface="Calibri" panose="020F0502020204030204" pitchFamily="34" charset="0"/>
                <a:cs typeface="Calibri" panose="020F0502020204030204" pitchFamily="34" charset="0"/>
              </a:rPr>
              <a:t> Notice how the colors (Blue, Green, Yellow, and Purple) stay in their own areas. They aren't all mixed together. This proves the model did a </a:t>
            </a:r>
            <a:r>
              <a:rPr lang="en-US" b="1" dirty="0">
                <a:latin typeface="Calibri" panose="020F0502020204030204" pitchFamily="34" charset="0"/>
                <a:ea typeface="Calibri" panose="020F0502020204030204" pitchFamily="34" charset="0"/>
                <a:cs typeface="Calibri" panose="020F0502020204030204" pitchFamily="34" charset="0"/>
              </a:rPr>
              <a:t>great job</a:t>
            </a:r>
            <a:r>
              <a:rPr lang="en-US" dirty="0">
                <a:latin typeface="Calibri" panose="020F0502020204030204" pitchFamily="34" charset="0"/>
                <a:ea typeface="Calibri" panose="020F0502020204030204" pitchFamily="34" charset="0"/>
                <a:cs typeface="Calibri" panose="020F0502020204030204" pitchFamily="34" charset="0"/>
              </a:rPr>
              <a:t> of separating different types of people.</a:t>
            </a:r>
          </a:p>
          <a:p>
            <a:r>
              <a:rPr lang="en-US" b="1" dirty="0">
                <a:latin typeface="Calibri" panose="020F0502020204030204" pitchFamily="34" charset="0"/>
                <a:ea typeface="Calibri" panose="020F0502020204030204" pitchFamily="34" charset="0"/>
                <a:cs typeface="Calibri" panose="020F0502020204030204" pitchFamily="34" charset="0"/>
              </a:rPr>
              <a:t>Strong Similarities:</a:t>
            </a:r>
            <a:r>
              <a:rPr lang="en-US" dirty="0">
                <a:latin typeface="Calibri" panose="020F0502020204030204" pitchFamily="34" charset="0"/>
                <a:ea typeface="Calibri" panose="020F0502020204030204" pitchFamily="34" charset="0"/>
                <a:cs typeface="Calibri" panose="020F0502020204030204" pitchFamily="34" charset="0"/>
              </a:rPr>
              <a:t> The dots of the same color are huddled close together. This means the people in each group are </a:t>
            </a:r>
            <a:r>
              <a:rPr lang="en-US" b="1" dirty="0">
                <a:latin typeface="Calibri" panose="020F0502020204030204" pitchFamily="34" charset="0"/>
                <a:ea typeface="Calibri" panose="020F0502020204030204" pitchFamily="34" charset="0"/>
                <a:cs typeface="Calibri" panose="020F0502020204030204" pitchFamily="34" charset="0"/>
              </a:rPr>
              <a:t>very similar</a:t>
            </a:r>
            <a:r>
              <a:rPr lang="en-US" dirty="0">
                <a:latin typeface="Calibri" panose="020F0502020204030204" pitchFamily="34" charset="0"/>
                <a:ea typeface="Calibri" panose="020F0502020204030204" pitchFamily="34" charset="0"/>
                <a:cs typeface="Calibri" panose="020F0502020204030204" pitchFamily="34" charset="0"/>
              </a:rPr>
              <a:t> to one another in how they spend their money.</a:t>
            </a:r>
          </a:p>
          <a:p>
            <a:r>
              <a:rPr lang="en-US" b="1" dirty="0">
                <a:latin typeface="Calibri" panose="020F0502020204030204" pitchFamily="34" charset="0"/>
                <a:ea typeface="Calibri" panose="020F0502020204030204" pitchFamily="34" charset="0"/>
                <a:cs typeface="Calibri" panose="020F0502020204030204" pitchFamily="34" charset="0"/>
              </a:rPr>
              <a:t>Final Proof:</a:t>
            </a:r>
            <a:r>
              <a:rPr lang="en-US" dirty="0">
                <a:latin typeface="Calibri" panose="020F0502020204030204" pitchFamily="34" charset="0"/>
                <a:ea typeface="Calibri" panose="020F0502020204030204" pitchFamily="34" charset="0"/>
                <a:cs typeface="Calibri" panose="020F0502020204030204" pitchFamily="34" charset="0"/>
              </a:rPr>
              <a:t> Because the groups are so clear and easy to see, we know the model is </a:t>
            </a:r>
            <a:r>
              <a:rPr lang="en-US" b="1" dirty="0">
                <a:latin typeface="Calibri" panose="020F0502020204030204" pitchFamily="34" charset="0"/>
                <a:ea typeface="Calibri" panose="020F0502020204030204" pitchFamily="34" charset="0"/>
                <a:cs typeface="Calibri" panose="020F0502020204030204" pitchFamily="34" charset="0"/>
              </a:rPr>
              <a:t>accurate</a:t>
            </a:r>
            <a:r>
              <a:rPr lang="en-US" dirty="0">
                <a:latin typeface="Calibri" panose="020F0502020204030204" pitchFamily="34" charset="0"/>
                <a:ea typeface="Calibri" panose="020F0502020204030204" pitchFamily="34" charset="0"/>
                <a:cs typeface="Calibri" panose="020F0502020204030204" pitchFamily="34" charset="0"/>
              </a:rPr>
              <a:t> and ready to use for our business.</a:t>
            </a:r>
          </a:p>
          <a:p>
            <a:endParaRPr lang="en-IN" dirty="0">
              <a:latin typeface="Calibri "/>
            </a:endParaRPr>
          </a:p>
        </p:txBody>
      </p:sp>
      <p:pic>
        <p:nvPicPr>
          <p:cNvPr id="5" name="Picture 4">
            <a:extLst>
              <a:ext uri="{FF2B5EF4-FFF2-40B4-BE49-F238E27FC236}">
                <a16:creationId xmlns:a16="http://schemas.microsoft.com/office/drawing/2014/main" id="{1ED9F49F-15B3-F663-CEB7-F52A5347568F}"/>
              </a:ext>
            </a:extLst>
          </p:cNvPr>
          <p:cNvPicPr>
            <a:picLocks noChangeAspect="1"/>
          </p:cNvPicPr>
          <p:nvPr/>
        </p:nvPicPr>
        <p:blipFill>
          <a:blip r:embed="rId3"/>
          <a:stretch>
            <a:fillRect/>
          </a:stretch>
        </p:blipFill>
        <p:spPr>
          <a:xfrm>
            <a:off x="474839" y="2425652"/>
            <a:ext cx="5911213" cy="4372743"/>
          </a:xfrm>
          <a:prstGeom prst="rect">
            <a:avLst/>
          </a:prstGeom>
        </p:spPr>
      </p:pic>
    </p:spTree>
    <p:extLst>
      <p:ext uri="{BB962C8B-B14F-4D97-AF65-F5344CB8AC3E}">
        <p14:creationId xmlns:p14="http://schemas.microsoft.com/office/powerpoint/2010/main" val="4272388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C9109-4D1C-6610-2554-D527611AECFE}"/>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Application Interface</a:t>
            </a:r>
          </a:p>
        </p:txBody>
      </p:sp>
      <p:pic>
        <p:nvPicPr>
          <p:cNvPr id="8" name="Content Placeholder 7">
            <a:extLst>
              <a:ext uri="{FF2B5EF4-FFF2-40B4-BE49-F238E27FC236}">
                <a16:creationId xmlns:a16="http://schemas.microsoft.com/office/drawing/2014/main" id="{57A2481D-FAE5-BBB9-FEE7-3F60D234F0B5}"/>
              </a:ext>
            </a:extLst>
          </p:cNvPr>
          <p:cNvPicPr>
            <a:picLocks noGrp="1" noChangeAspect="1"/>
          </p:cNvPicPr>
          <p:nvPr>
            <p:ph idx="1"/>
          </p:nvPr>
        </p:nvPicPr>
        <p:blipFill>
          <a:blip r:embed="rId3"/>
          <a:stretch>
            <a:fillRect/>
          </a:stretch>
        </p:blipFill>
        <p:spPr>
          <a:xfrm>
            <a:off x="518266" y="2311268"/>
            <a:ext cx="6155912" cy="4212080"/>
          </a:xfrm>
          <a:prstGeom prst="rect">
            <a:avLst/>
          </a:prstGeom>
        </p:spPr>
      </p:pic>
      <p:pic>
        <p:nvPicPr>
          <p:cNvPr id="12" name="Picture 11">
            <a:extLst>
              <a:ext uri="{FF2B5EF4-FFF2-40B4-BE49-F238E27FC236}">
                <a16:creationId xmlns:a16="http://schemas.microsoft.com/office/drawing/2014/main" id="{EB430462-879C-8251-7B7F-B608572C46DC}"/>
              </a:ext>
            </a:extLst>
          </p:cNvPr>
          <p:cNvPicPr>
            <a:picLocks noChangeAspect="1"/>
          </p:cNvPicPr>
          <p:nvPr/>
        </p:nvPicPr>
        <p:blipFill>
          <a:blip r:embed="rId4"/>
          <a:stretch>
            <a:fillRect/>
          </a:stretch>
        </p:blipFill>
        <p:spPr>
          <a:xfrm>
            <a:off x="5781981" y="2270353"/>
            <a:ext cx="6089716" cy="4293909"/>
          </a:xfrm>
          <a:prstGeom prst="rect">
            <a:avLst/>
          </a:prstGeom>
        </p:spPr>
      </p:pic>
    </p:spTree>
    <p:extLst>
      <p:ext uri="{BB962C8B-B14F-4D97-AF65-F5344CB8AC3E}">
        <p14:creationId xmlns:p14="http://schemas.microsoft.com/office/powerpoint/2010/main" val="1672205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E376B-3022-2797-7835-722169F71BFF}"/>
              </a:ext>
            </a:extLst>
          </p:cNvPr>
          <p:cNvSpPr>
            <a:spLocks noGrp="1"/>
          </p:cNvSpPr>
          <p:nvPr>
            <p:ph type="title"/>
          </p:nvPr>
        </p:nvSpPr>
        <p:spPr/>
        <p:txBody>
          <a:bodyPr/>
          <a:lstStyle/>
          <a:p>
            <a:r>
              <a:rPr lang="en-IN" dirty="0">
                <a:latin typeface="Calibri bold" panose="020F0702030404030204" pitchFamily="34" charset="0"/>
                <a:ea typeface="Calibri bold" panose="020F0702030404030204" pitchFamily="34" charset="0"/>
                <a:cs typeface="Calibri bold" panose="020F0702030404030204" pitchFamily="34" charset="0"/>
              </a:rPr>
              <a:t>Application Interface</a:t>
            </a:r>
            <a:endParaRPr lang="en-IN" dirty="0"/>
          </a:p>
        </p:txBody>
      </p:sp>
      <p:pic>
        <p:nvPicPr>
          <p:cNvPr id="5" name="Content Placeholder 4">
            <a:extLst>
              <a:ext uri="{FF2B5EF4-FFF2-40B4-BE49-F238E27FC236}">
                <a16:creationId xmlns:a16="http://schemas.microsoft.com/office/drawing/2014/main" id="{FCD6637A-820F-CBC6-A9C9-64AC4F820410}"/>
              </a:ext>
            </a:extLst>
          </p:cNvPr>
          <p:cNvPicPr>
            <a:picLocks noGrp="1" noChangeAspect="1"/>
          </p:cNvPicPr>
          <p:nvPr>
            <p:ph idx="1"/>
          </p:nvPr>
        </p:nvPicPr>
        <p:blipFill>
          <a:blip r:embed="rId2"/>
          <a:stretch>
            <a:fillRect/>
          </a:stretch>
        </p:blipFill>
        <p:spPr>
          <a:xfrm>
            <a:off x="84841" y="2262433"/>
            <a:ext cx="5656082" cy="4402320"/>
          </a:xfrm>
          <a:prstGeom prst="rect">
            <a:avLst/>
          </a:prstGeom>
        </p:spPr>
      </p:pic>
      <p:pic>
        <p:nvPicPr>
          <p:cNvPr id="7" name="Picture 6">
            <a:extLst>
              <a:ext uri="{FF2B5EF4-FFF2-40B4-BE49-F238E27FC236}">
                <a16:creationId xmlns:a16="http://schemas.microsoft.com/office/drawing/2014/main" id="{9C2F2D20-C519-36D3-CD9B-133CDEC5789D}"/>
              </a:ext>
            </a:extLst>
          </p:cNvPr>
          <p:cNvPicPr>
            <a:picLocks noChangeAspect="1"/>
          </p:cNvPicPr>
          <p:nvPr/>
        </p:nvPicPr>
        <p:blipFill>
          <a:blip r:embed="rId3"/>
          <a:stretch>
            <a:fillRect/>
          </a:stretch>
        </p:blipFill>
        <p:spPr>
          <a:xfrm>
            <a:off x="6567343" y="2262433"/>
            <a:ext cx="5360707" cy="4501299"/>
          </a:xfrm>
          <a:prstGeom prst="rect">
            <a:avLst/>
          </a:prstGeom>
        </p:spPr>
      </p:pic>
    </p:spTree>
    <p:extLst>
      <p:ext uri="{BB962C8B-B14F-4D97-AF65-F5344CB8AC3E}">
        <p14:creationId xmlns:p14="http://schemas.microsoft.com/office/powerpoint/2010/main" val="2246529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D1AEF-7C8F-D5FE-B267-A1C0AE8541B5}"/>
              </a:ext>
            </a:extLst>
          </p:cNvPr>
          <p:cNvSpPr>
            <a:spLocks noGrp="1"/>
          </p:cNvSpPr>
          <p:nvPr>
            <p:ph type="title"/>
          </p:nvPr>
        </p:nvSpPr>
        <p:spPr>
          <a:xfrm>
            <a:off x="1154954" y="1018095"/>
            <a:ext cx="8761413" cy="716437"/>
          </a:xfrm>
        </p:spPr>
        <p:txBody>
          <a:bodyPr/>
          <a:lstStyle/>
          <a:p>
            <a:r>
              <a:rPr lang="en-US" dirty="0">
                <a:latin typeface="Calibri bold" panose="020F0702030404030204" pitchFamily="34" charset="0"/>
                <a:ea typeface="Calibri bold" panose="020F0702030404030204" pitchFamily="34" charset="0"/>
                <a:cs typeface="Calibri bold" panose="020F0702030404030204" pitchFamily="34" charset="0"/>
              </a:rPr>
              <a:t>Challenges Faced</a:t>
            </a:r>
            <a:endParaRPr lang="en-IN" dirty="0">
              <a:latin typeface="Calibri bold" panose="020F0702030404030204" pitchFamily="34" charset="0"/>
              <a:ea typeface="Calibri bold" panose="020F0702030404030204" pitchFamily="34" charset="0"/>
              <a:cs typeface="Calibri bold" panose="020F0702030404030204" pitchFamily="34" charset="0"/>
            </a:endParaRPr>
          </a:p>
        </p:txBody>
      </p:sp>
      <p:sp>
        <p:nvSpPr>
          <p:cNvPr id="3" name="Content Placeholder 2">
            <a:extLst>
              <a:ext uri="{FF2B5EF4-FFF2-40B4-BE49-F238E27FC236}">
                <a16:creationId xmlns:a16="http://schemas.microsoft.com/office/drawing/2014/main" id="{AE3542FF-0C40-5126-BC56-DCB0F1F20FF6}"/>
              </a:ext>
            </a:extLst>
          </p:cNvPr>
          <p:cNvSpPr>
            <a:spLocks noGrp="1"/>
          </p:cNvSpPr>
          <p:nvPr>
            <p:ph idx="1"/>
          </p:nvPr>
        </p:nvSpPr>
        <p:spPr>
          <a:xfrm>
            <a:off x="545432" y="2448233"/>
            <a:ext cx="11181347" cy="4232786"/>
          </a:xfrm>
        </p:spPr>
        <p:txBody>
          <a:bodyPr>
            <a:norm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During the development of this project, we faced several challenges while working with the dataset and building the model.</a:t>
            </a:r>
          </a:p>
          <a:p>
            <a:pPr algn="just"/>
            <a:r>
              <a:rPr lang="en-US" b="1" dirty="0">
                <a:latin typeface="Calibri" panose="020F0502020204030204" pitchFamily="34" charset="0"/>
                <a:ea typeface="Calibri" panose="020F0502020204030204" pitchFamily="34" charset="0"/>
                <a:cs typeface="Calibri" panose="020F0502020204030204" pitchFamily="34" charset="0"/>
              </a:rPr>
              <a:t>Data Cleaning Issues:</a:t>
            </a:r>
            <a:r>
              <a:rPr lang="en-US" dirty="0">
                <a:latin typeface="Calibri" panose="020F0502020204030204" pitchFamily="34" charset="0"/>
                <a:ea typeface="Calibri" panose="020F0502020204030204" pitchFamily="34" charset="0"/>
                <a:cs typeface="Calibri" panose="020F0502020204030204" pitchFamily="34" charset="0"/>
              </a:rPr>
              <a:t> The dataset required preprocessing such as handling missing values and converting categorical variables into numerical form.</a:t>
            </a:r>
          </a:p>
          <a:p>
            <a:pPr algn="just"/>
            <a:r>
              <a:rPr lang="en-US" b="1" dirty="0">
                <a:latin typeface="Calibri" panose="020F0502020204030204" pitchFamily="34" charset="0"/>
                <a:ea typeface="Calibri" panose="020F0502020204030204" pitchFamily="34" charset="0"/>
                <a:cs typeface="Calibri" panose="020F0502020204030204" pitchFamily="34" charset="0"/>
              </a:rPr>
              <a:t>Feature Selection:</a:t>
            </a:r>
            <a:r>
              <a:rPr lang="en-US" dirty="0">
                <a:latin typeface="Calibri" panose="020F0502020204030204" pitchFamily="34" charset="0"/>
                <a:ea typeface="Calibri" panose="020F0502020204030204" pitchFamily="34" charset="0"/>
                <a:cs typeface="Calibri" panose="020F0502020204030204" pitchFamily="34" charset="0"/>
              </a:rPr>
              <a:t> Choosing the most important features for clustering was challenging because many variables were available in the dataset.</a:t>
            </a:r>
          </a:p>
          <a:p>
            <a:pPr algn="just"/>
            <a:r>
              <a:rPr lang="en-US" b="1" dirty="0">
                <a:latin typeface="Calibri" panose="020F0502020204030204" pitchFamily="34" charset="0"/>
                <a:ea typeface="Calibri" panose="020F0502020204030204" pitchFamily="34" charset="0"/>
                <a:cs typeface="Calibri" panose="020F0502020204030204" pitchFamily="34" charset="0"/>
              </a:rPr>
              <a:t>Choosing the Optimal Number of Clusters:</a:t>
            </a:r>
            <a:r>
              <a:rPr lang="en-US" dirty="0">
                <a:latin typeface="Calibri" panose="020F0502020204030204" pitchFamily="34" charset="0"/>
                <a:ea typeface="Calibri" panose="020F0502020204030204" pitchFamily="34" charset="0"/>
                <a:cs typeface="Calibri" panose="020F0502020204030204" pitchFamily="34" charset="0"/>
              </a:rPr>
              <a:t> Determining the correct number of customer segments for the K-Means algorithm required experimentation and analysis.</a:t>
            </a:r>
          </a:p>
          <a:p>
            <a:pPr algn="just"/>
            <a:r>
              <a:rPr lang="en-US" b="1" dirty="0">
                <a:latin typeface="Calibri" panose="020F0502020204030204" pitchFamily="34" charset="0"/>
                <a:ea typeface="Calibri" panose="020F0502020204030204" pitchFamily="34" charset="0"/>
                <a:cs typeface="Calibri" panose="020F0502020204030204" pitchFamily="34" charset="0"/>
              </a:rPr>
              <a:t>Understanding Customer Behavior:</a:t>
            </a:r>
            <a:r>
              <a:rPr lang="en-US" dirty="0">
                <a:latin typeface="Calibri" panose="020F0502020204030204" pitchFamily="34" charset="0"/>
                <a:ea typeface="Calibri" panose="020F0502020204030204" pitchFamily="34" charset="0"/>
                <a:cs typeface="Calibri" panose="020F0502020204030204" pitchFamily="34" charset="0"/>
              </a:rPr>
              <a:t> Interpreting the patterns and insights from the data required careful analysis.</a:t>
            </a:r>
          </a:p>
          <a:p>
            <a:pPr algn="just"/>
            <a:r>
              <a:rPr lang="en-US" b="1" dirty="0">
                <a:latin typeface="Calibri" panose="020F0502020204030204" pitchFamily="34" charset="0"/>
                <a:ea typeface="Calibri" panose="020F0502020204030204" pitchFamily="34" charset="0"/>
                <a:cs typeface="Calibri" panose="020F0502020204030204" pitchFamily="34" charset="0"/>
              </a:rPr>
              <a:t>Model Deployment:</a:t>
            </a:r>
            <a:r>
              <a:rPr lang="en-US" dirty="0">
                <a:latin typeface="Calibri" panose="020F0502020204030204" pitchFamily="34" charset="0"/>
                <a:ea typeface="Calibri" panose="020F0502020204030204" pitchFamily="34" charset="0"/>
                <a:cs typeface="Calibri" panose="020F0502020204030204" pitchFamily="34" charset="0"/>
              </a:rPr>
              <a:t> Deploying the trained model as a web application and ensuring it works correctly required additional configuration and testing.</a:t>
            </a:r>
          </a:p>
          <a:p>
            <a:endParaRPr lang="en-IN" dirty="0">
              <a:latin typeface="Calibri "/>
            </a:endParaRPr>
          </a:p>
        </p:txBody>
      </p:sp>
    </p:spTree>
    <p:extLst>
      <p:ext uri="{BB962C8B-B14F-4D97-AF65-F5344CB8AC3E}">
        <p14:creationId xmlns:p14="http://schemas.microsoft.com/office/powerpoint/2010/main" val="2579272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69C8-266A-0A1D-6DF4-5577A605368B}"/>
              </a:ext>
            </a:extLst>
          </p:cNvPr>
          <p:cNvSpPr>
            <a:spLocks noGrp="1"/>
          </p:cNvSpPr>
          <p:nvPr>
            <p:ph type="title"/>
          </p:nvPr>
        </p:nvSpPr>
        <p:spPr>
          <a:xfrm>
            <a:off x="3361822" y="2992943"/>
            <a:ext cx="8761413" cy="1523347"/>
          </a:xfrm>
        </p:spPr>
        <p:txBody>
          <a:bodyPr/>
          <a:lstStyle/>
          <a:p>
            <a:r>
              <a:rPr lang="en-IN" sz="9600" b="1" dirty="0">
                <a:solidFill>
                  <a:schemeClr val="accent1"/>
                </a:solidFill>
                <a:latin typeface="Calibri bold" panose="020F0702030404030204" pitchFamily="34" charset="0"/>
                <a:ea typeface="Calibri bold" panose="020F0702030404030204" pitchFamily="34" charset="0"/>
                <a:cs typeface="Calibri bold" panose="020F0702030404030204" pitchFamily="34" charset="0"/>
              </a:rPr>
              <a:t>Thank You</a:t>
            </a:r>
          </a:p>
        </p:txBody>
      </p:sp>
    </p:spTree>
    <p:extLst>
      <p:ext uri="{BB962C8B-B14F-4D97-AF65-F5344CB8AC3E}">
        <p14:creationId xmlns:p14="http://schemas.microsoft.com/office/powerpoint/2010/main" val="16594879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372</TotalTime>
  <Words>2690</Words>
  <Application>Microsoft Office PowerPoint</Application>
  <PresentationFormat>Widescreen</PresentationFormat>
  <Paragraphs>170</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Calibri</vt:lpstr>
      <vt:lpstr>Calibri </vt:lpstr>
      <vt:lpstr>Calibri bold</vt:lpstr>
      <vt:lpstr>Century Gothic</vt:lpstr>
      <vt:lpstr>Segoe UI Bold</vt:lpstr>
      <vt:lpstr>Wingdings 3</vt:lpstr>
      <vt:lpstr>Ion Boardroom</vt:lpstr>
      <vt:lpstr>CUSTOMER SEGMENTATION                </vt:lpstr>
      <vt:lpstr>PROJECT TEAM</vt:lpstr>
      <vt:lpstr>OBJECTIVE </vt:lpstr>
      <vt:lpstr>DATASET DETAILS</vt:lpstr>
      <vt:lpstr>Important Dataset Features</vt:lpstr>
      <vt:lpstr>Exploratory Data Analysis (EDA)</vt:lpstr>
      <vt:lpstr>Marital Status Distribution </vt:lpstr>
      <vt:lpstr>Children in Household </vt:lpstr>
      <vt:lpstr>Recency Analysis </vt:lpstr>
      <vt:lpstr>Income Outlier Detection </vt:lpstr>
      <vt:lpstr>Income Distribution After Cleaning</vt:lpstr>
      <vt:lpstr>Total Spending Analysis </vt:lpstr>
      <vt:lpstr>Total Purchases Analysis </vt:lpstr>
      <vt:lpstr>Insights from Data Analysis</vt:lpstr>
      <vt:lpstr> Machine Learning Technique</vt:lpstr>
      <vt:lpstr>Clustering Algorithm Used</vt:lpstr>
      <vt:lpstr>Feature Selection &amp; Cluster Optimization</vt:lpstr>
      <vt:lpstr> Customer Segments</vt:lpstr>
      <vt:lpstr>Why the Model is Reliable</vt:lpstr>
      <vt:lpstr>Model Evaluation(Checking Our Model)  </vt:lpstr>
      <vt:lpstr>Application Interface</vt:lpstr>
      <vt:lpstr>Application Interface</vt:lpstr>
      <vt:lpstr>Challenges Faced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Vadde Rishi Charan Teja</dc:creator>
  <cp:lastModifiedBy>AMARTHYA NADH B</cp:lastModifiedBy>
  <cp:revision>6</cp:revision>
  <dcterms:created xsi:type="dcterms:W3CDTF">2026-03-13T04:27:44Z</dcterms:created>
  <dcterms:modified xsi:type="dcterms:W3CDTF">2026-03-14T14:43:24Z</dcterms:modified>
</cp:coreProperties>
</file>